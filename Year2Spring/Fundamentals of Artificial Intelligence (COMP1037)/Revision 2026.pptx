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56" r:id="rId2"/>
    <p:sldId id="342" r:id="rId3"/>
    <p:sldId id="257" r:id="rId4"/>
    <p:sldId id="344" r:id="rId5"/>
    <p:sldId id="331" r:id="rId6"/>
    <p:sldId id="767" r:id="rId7"/>
    <p:sldId id="332" r:id="rId8"/>
    <p:sldId id="258" r:id="rId9"/>
    <p:sldId id="343" r:id="rId10"/>
    <p:sldId id="334" r:id="rId11"/>
    <p:sldId id="346" r:id="rId12"/>
    <p:sldId id="335" r:id="rId13"/>
    <p:sldId id="347" r:id="rId14"/>
    <p:sldId id="763" r:id="rId15"/>
    <p:sldId id="764" r:id="rId16"/>
    <p:sldId id="765" r:id="rId17"/>
    <p:sldId id="761" r:id="rId18"/>
    <p:sldId id="762" r:id="rId19"/>
    <p:sldId id="766" r:id="rId20"/>
    <p:sldId id="759" r:id="rId21"/>
    <p:sldId id="26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73" autoAdjust="0"/>
    <p:restoredTop sz="84726"/>
  </p:normalViewPr>
  <p:slideViewPr>
    <p:cSldViewPr snapToGrid="0" snapToObjects="1">
      <p:cViewPr varScale="1">
        <p:scale>
          <a:sx n="83" d="100"/>
          <a:sy n="83" d="100"/>
        </p:scale>
        <p:origin x="38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2698F4-0781-2D4E-92EB-813B3C794675}"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7050E-6C3A-0147-B502-AE7E421CD78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7050E-6C3A-0147-B502-AE7E421CD788}" type="slidenum">
              <a:rPr lang="en-US" smtClean="0"/>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7050E-6C3A-0147-B502-AE7E421CD788}" type="slidenum">
              <a:rPr lang="en-US" smtClean="0"/>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7050E-6C3A-0147-B502-AE7E421CD788}" type="slidenum">
              <a:rPr lang="en-US" smtClean="0"/>
              <a:t>12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050E-6C3A-0147-B502-AE7E421CD788}"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557" name="Group 1556"/>
          <p:cNvGrpSpPr/>
          <p:nvPr/>
        </p:nvGrpSpPr>
        <p:grpSpPr>
          <a:xfrm>
            <a:off x="0" y="420256"/>
            <a:ext cx="12188952" cy="3795497"/>
            <a:chOff x="0" y="420256"/>
            <a:chExt cx="12188952" cy="3795497"/>
          </a:xfrm>
        </p:grpSpPr>
        <p:cxnSp>
          <p:nvCxnSpPr>
            <p:cNvPr id="1558" name="Straight Connector 1557"/>
            <p:cNvCxnSpPr/>
            <p:nvPr/>
          </p:nvCxnSpPr>
          <p:spPr>
            <a:xfrm>
              <a:off x="0" y="4215753"/>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9" name="Straight Connector 1558"/>
            <p:cNvCxnSpPr/>
            <p:nvPr/>
          </p:nvCxnSpPr>
          <p:spPr>
            <a:xfrm>
              <a:off x="0" y="379403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0" name="Straight Connector 1559"/>
            <p:cNvCxnSpPr/>
            <p:nvPr/>
          </p:nvCxnSpPr>
          <p:spPr>
            <a:xfrm>
              <a:off x="0" y="337231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1" name="Straight Connector 1560"/>
            <p:cNvCxnSpPr/>
            <p:nvPr/>
          </p:nvCxnSpPr>
          <p:spPr>
            <a:xfrm>
              <a:off x="0" y="295058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2" name="Straight Connector 1561"/>
            <p:cNvCxnSpPr/>
            <p:nvPr/>
          </p:nvCxnSpPr>
          <p:spPr>
            <a:xfrm>
              <a:off x="0" y="252886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3" name="Straight Connector 1562"/>
            <p:cNvCxnSpPr/>
            <p:nvPr/>
          </p:nvCxnSpPr>
          <p:spPr>
            <a:xfrm>
              <a:off x="0" y="2107144"/>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4" name="Straight Connector 1563"/>
            <p:cNvCxnSpPr/>
            <p:nvPr/>
          </p:nvCxnSpPr>
          <p:spPr>
            <a:xfrm>
              <a:off x="0" y="168542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5" name="Straight Connector 1564"/>
            <p:cNvCxnSpPr/>
            <p:nvPr/>
          </p:nvCxnSpPr>
          <p:spPr>
            <a:xfrm>
              <a:off x="0" y="126370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6" name="Straight Connector 1565"/>
            <p:cNvCxnSpPr/>
            <p:nvPr/>
          </p:nvCxnSpPr>
          <p:spPr>
            <a:xfrm>
              <a:off x="0" y="84197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7" name="Straight Connector 1566"/>
            <p:cNvCxnSpPr/>
            <p:nvPr/>
          </p:nvCxnSpPr>
          <p:spPr>
            <a:xfrm>
              <a:off x="0" y="42025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568"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69"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0"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1"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2"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3"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4"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5"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6"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7"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8"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79"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0"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1"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2"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3"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4"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5"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6"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7"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8"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89"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0"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1"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2"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3"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4"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5"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6"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7"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8"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599"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0"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1"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2"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3"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4"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5"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6"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7"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8"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09" name="Oval 1608"/>
          <p:cNvSpPr/>
          <p:nvPr/>
        </p:nvSpPr>
        <p:spPr>
          <a:xfrm>
            <a:off x="71204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10"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1" name="Oval 1610"/>
          <p:cNvSpPr/>
          <p:nvPr/>
        </p:nvSpPr>
        <p:spPr>
          <a:xfrm>
            <a:off x="3774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12"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3"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4"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5"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6"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7"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18" name="Oval 1617"/>
          <p:cNvSpPr/>
          <p:nvPr/>
        </p:nvSpPr>
        <p:spPr>
          <a:xfrm>
            <a:off x="12203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19" name="Oval 1618"/>
          <p:cNvSpPr/>
          <p:nvPr/>
        </p:nvSpPr>
        <p:spPr>
          <a:xfrm>
            <a:off x="20632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0" name="Oval 1619"/>
          <p:cNvSpPr/>
          <p:nvPr/>
        </p:nvSpPr>
        <p:spPr>
          <a:xfrm>
            <a:off x="29060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1" name="Oval 1620"/>
          <p:cNvSpPr/>
          <p:nvPr/>
        </p:nvSpPr>
        <p:spPr>
          <a:xfrm>
            <a:off x="37489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2" name="Oval 1621"/>
          <p:cNvSpPr/>
          <p:nvPr/>
        </p:nvSpPr>
        <p:spPr>
          <a:xfrm>
            <a:off x="45918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3" name="Oval 1622"/>
          <p:cNvSpPr/>
          <p:nvPr/>
        </p:nvSpPr>
        <p:spPr>
          <a:xfrm>
            <a:off x="54347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4" name="Oval 1623"/>
          <p:cNvSpPr/>
          <p:nvPr/>
        </p:nvSpPr>
        <p:spPr>
          <a:xfrm>
            <a:off x="62776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26" name="Oval 1625"/>
          <p:cNvSpPr/>
          <p:nvPr/>
        </p:nvSpPr>
        <p:spPr>
          <a:xfrm>
            <a:off x="88062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7"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28" name="Oval 1627"/>
          <p:cNvSpPr/>
          <p:nvPr/>
        </p:nvSpPr>
        <p:spPr>
          <a:xfrm>
            <a:off x="79633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29"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0" name="Oval 1629"/>
          <p:cNvSpPr/>
          <p:nvPr/>
        </p:nvSpPr>
        <p:spPr>
          <a:xfrm>
            <a:off x="104920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31"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2" name="Oval 1631"/>
          <p:cNvSpPr/>
          <p:nvPr/>
        </p:nvSpPr>
        <p:spPr>
          <a:xfrm>
            <a:off x="96491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33"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4"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5" name="Oval 1634"/>
          <p:cNvSpPr/>
          <p:nvPr/>
        </p:nvSpPr>
        <p:spPr>
          <a:xfrm>
            <a:off x="113348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636"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7" name="Oval 1636"/>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8"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39" name="Oval 1638"/>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0" name="Oval 1639"/>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1" name="Oval 1640"/>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2" name="Oval 1641"/>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3" name="Oval 1642"/>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4" name="Oval 1643"/>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5" name="Oval 1644"/>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6" name="Oval 1645"/>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7" name="Oval 1646"/>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8" name="Oval 1647"/>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49" name="Oval 1648"/>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0" name="Oval 1649"/>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1" name="Oval 1650"/>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2"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3"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4"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5"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6"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7"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8"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59"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0"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1"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2"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3"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4"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5"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6"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7" name="Oval 1666"/>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8" name="Oval 1667"/>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69" name="Oval 1668"/>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0" name="Oval 1669"/>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1" name="Oval 1670"/>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2" name="Oval 1671"/>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3" name="Oval 1672"/>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4" name="Oval 1673"/>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5" name="Oval 1674"/>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6" name="Oval 1675"/>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7" name="Oval 1676"/>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8" name="Oval 1677"/>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79" name="Oval 1678"/>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0"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1" name="Oval 1680"/>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2"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3"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4"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5"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6"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7"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8"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89"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0"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1"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2"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3"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4"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5"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6"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7"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8"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699"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0"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1" name="Oval 1700"/>
          <p:cNvSpPr/>
          <p:nvPr/>
        </p:nvSpPr>
        <p:spPr>
          <a:xfrm>
            <a:off x="71204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02"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3" name="Oval 1702"/>
          <p:cNvSpPr/>
          <p:nvPr/>
        </p:nvSpPr>
        <p:spPr>
          <a:xfrm>
            <a:off x="3774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04"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5"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6"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7"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8"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09"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10" name="Oval 1709"/>
          <p:cNvSpPr/>
          <p:nvPr/>
        </p:nvSpPr>
        <p:spPr>
          <a:xfrm>
            <a:off x="12203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1" name="Oval 1710"/>
          <p:cNvSpPr/>
          <p:nvPr/>
        </p:nvSpPr>
        <p:spPr>
          <a:xfrm>
            <a:off x="20632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2" name="Oval 1711"/>
          <p:cNvSpPr/>
          <p:nvPr/>
        </p:nvSpPr>
        <p:spPr>
          <a:xfrm>
            <a:off x="29060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3" name="Oval 1712"/>
          <p:cNvSpPr/>
          <p:nvPr/>
        </p:nvSpPr>
        <p:spPr>
          <a:xfrm>
            <a:off x="37489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4" name="Oval 1713"/>
          <p:cNvSpPr/>
          <p:nvPr/>
        </p:nvSpPr>
        <p:spPr>
          <a:xfrm>
            <a:off x="45918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5" name="Oval 1714"/>
          <p:cNvSpPr/>
          <p:nvPr/>
        </p:nvSpPr>
        <p:spPr>
          <a:xfrm>
            <a:off x="54347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6" name="Oval 1715"/>
          <p:cNvSpPr/>
          <p:nvPr/>
        </p:nvSpPr>
        <p:spPr>
          <a:xfrm>
            <a:off x="62776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7"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18" name="Oval 1717"/>
          <p:cNvSpPr/>
          <p:nvPr/>
        </p:nvSpPr>
        <p:spPr>
          <a:xfrm>
            <a:off x="88062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19"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0" name="Oval 1719"/>
          <p:cNvSpPr/>
          <p:nvPr/>
        </p:nvSpPr>
        <p:spPr>
          <a:xfrm>
            <a:off x="79633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21"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2" name="Oval 1721"/>
          <p:cNvSpPr/>
          <p:nvPr/>
        </p:nvSpPr>
        <p:spPr>
          <a:xfrm>
            <a:off x="104920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23"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4" name="Oval 1723"/>
          <p:cNvSpPr/>
          <p:nvPr/>
        </p:nvSpPr>
        <p:spPr>
          <a:xfrm>
            <a:off x="96491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25"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6"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7" name="Oval 1726"/>
          <p:cNvSpPr/>
          <p:nvPr/>
        </p:nvSpPr>
        <p:spPr>
          <a:xfrm>
            <a:off x="113348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28"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29" name="Oval 1728"/>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0" name="Oval 1729"/>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1" name="Oval 1730"/>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2" name="Oval 1731"/>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3" name="Oval 1732"/>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4" name="Oval 1733"/>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5" name="Oval 1734"/>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6" name="Oval 1735"/>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7" name="Oval 1736"/>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8" name="Oval 1737"/>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39" name="Oval 1738"/>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0" name="Oval 1739"/>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1" name="Oval 1740"/>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2" name="Oval 1741"/>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3"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4"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5"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6"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7"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8"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49"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0"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1"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2"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3"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4"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5"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6"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7"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8" name="Oval 1757"/>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59" name="Oval 1758"/>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0" name="Oval 1759"/>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1" name="Oval 1760"/>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2" name="Oval 1761"/>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3" name="Oval 1762"/>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4" name="Oval 1763"/>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5" name="Oval 1764"/>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6" name="Oval 1765"/>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7" name="Oval 1766"/>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8" name="Oval 1767"/>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69" name="Oval 1768"/>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0" name="Oval 1769"/>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1" name="Oval 1770"/>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2"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3" name="Oval 1772"/>
          <p:cNvSpPr/>
          <p:nvPr/>
        </p:nvSpPr>
        <p:spPr>
          <a:xfrm>
            <a:off x="71204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7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5" name="Oval 1774"/>
          <p:cNvSpPr/>
          <p:nvPr/>
        </p:nvSpPr>
        <p:spPr>
          <a:xfrm>
            <a:off x="3774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76"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7"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8"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79"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80"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81"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82" name="Oval 1781"/>
          <p:cNvSpPr/>
          <p:nvPr/>
        </p:nvSpPr>
        <p:spPr>
          <a:xfrm>
            <a:off x="12203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3" name="Oval 1782"/>
          <p:cNvSpPr/>
          <p:nvPr/>
        </p:nvSpPr>
        <p:spPr>
          <a:xfrm>
            <a:off x="20632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4" name="Oval 1783"/>
          <p:cNvSpPr/>
          <p:nvPr/>
        </p:nvSpPr>
        <p:spPr>
          <a:xfrm>
            <a:off x="29060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5" name="Oval 1784"/>
          <p:cNvSpPr/>
          <p:nvPr/>
        </p:nvSpPr>
        <p:spPr>
          <a:xfrm>
            <a:off x="37489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6" name="Oval 1785"/>
          <p:cNvSpPr/>
          <p:nvPr/>
        </p:nvSpPr>
        <p:spPr>
          <a:xfrm>
            <a:off x="45918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7" name="Oval 1786"/>
          <p:cNvSpPr/>
          <p:nvPr/>
        </p:nvSpPr>
        <p:spPr>
          <a:xfrm>
            <a:off x="54347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8" name="Oval 1787"/>
          <p:cNvSpPr/>
          <p:nvPr/>
        </p:nvSpPr>
        <p:spPr>
          <a:xfrm>
            <a:off x="62776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89"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0" name="Oval 1789"/>
          <p:cNvSpPr/>
          <p:nvPr/>
        </p:nvSpPr>
        <p:spPr>
          <a:xfrm>
            <a:off x="88062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91"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2" name="Oval 1791"/>
          <p:cNvSpPr/>
          <p:nvPr/>
        </p:nvSpPr>
        <p:spPr>
          <a:xfrm>
            <a:off x="79633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9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4" name="Oval 1793"/>
          <p:cNvSpPr/>
          <p:nvPr/>
        </p:nvSpPr>
        <p:spPr>
          <a:xfrm>
            <a:off x="104920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95"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6" name="Oval 1795"/>
          <p:cNvSpPr/>
          <p:nvPr/>
        </p:nvSpPr>
        <p:spPr>
          <a:xfrm>
            <a:off x="96491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797"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8"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799" name="Oval 1798"/>
          <p:cNvSpPr/>
          <p:nvPr/>
        </p:nvSpPr>
        <p:spPr>
          <a:xfrm>
            <a:off x="113348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00"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1" name="Oval 1800"/>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2" name="Oval 1801"/>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3" name="Oval 1802"/>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4" name="Oval 1803"/>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5" name="Oval 1804"/>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6" name="Oval 1805"/>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7" name="Oval 1806"/>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8" name="Oval 1807"/>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09" name="Oval 1808"/>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0" name="Oval 1809"/>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1" name="Oval 1810"/>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2" name="Oval 1811"/>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3" name="Oval 1812"/>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4" name="Oval 1813"/>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5"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6"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7"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8"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19"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0"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1"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2"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3"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4"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5"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6"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7"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8"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29"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0" name="Oval 1829"/>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1" name="Oval 1830"/>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2" name="Oval 1831"/>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3" name="Oval 1832"/>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4" name="Oval 1833"/>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5" name="Oval 1834"/>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6" name="Oval 1835"/>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7" name="Oval 1836"/>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8" name="Oval 1837"/>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39" name="Oval 1838"/>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0" name="Oval 1839"/>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1" name="Oval 1840"/>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2" name="Oval 1841"/>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3" name="Oval 1842"/>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4"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5" name="Oval 1844"/>
          <p:cNvSpPr/>
          <p:nvPr/>
        </p:nvSpPr>
        <p:spPr>
          <a:xfrm>
            <a:off x="71204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46"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7" name="Oval 1846"/>
          <p:cNvSpPr/>
          <p:nvPr/>
        </p:nvSpPr>
        <p:spPr>
          <a:xfrm>
            <a:off x="3774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48"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49"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50"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51"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52"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53"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54" name="Oval 1853"/>
          <p:cNvSpPr/>
          <p:nvPr/>
        </p:nvSpPr>
        <p:spPr>
          <a:xfrm>
            <a:off x="12203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55" name="Oval 1854"/>
          <p:cNvSpPr/>
          <p:nvPr/>
        </p:nvSpPr>
        <p:spPr>
          <a:xfrm>
            <a:off x="20632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56" name="Oval 1855"/>
          <p:cNvSpPr/>
          <p:nvPr/>
        </p:nvSpPr>
        <p:spPr>
          <a:xfrm>
            <a:off x="29060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57" name="Oval 1856"/>
          <p:cNvSpPr/>
          <p:nvPr/>
        </p:nvSpPr>
        <p:spPr>
          <a:xfrm>
            <a:off x="37489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58" name="Oval 1857"/>
          <p:cNvSpPr/>
          <p:nvPr/>
        </p:nvSpPr>
        <p:spPr>
          <a:xfrm>
            <a:off x="45918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59" name="Oval 1858"/>
          <p:cNvSpPr/>
          <p:nvPr/>
        </p:nvSpPr>
        <p:spPr>
          <a:xfrm>
            <a:off x="54347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0" name="Oval 1859"/>
          <p:cNvSpPr/>
          <p:nvPr/>
        </p:nvSpPr>
        <p:spPr>
          <a:xfrm>
            <a:off x="62776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1"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62" name="Oval 1861"/>
          <p:cNvSpPr/>
          <p:nvPr/>
        </p:nvSpPr>
        <p:spPr>
          <a:xfrm>
            <a:off x="88062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3"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64" name="Oval 1863"/>
          <p:cNvSpPr/>
          <p:nvPr/>
        </p:nvSpPr>
        <p:spPr>
          <a:xfrm>
            <a:off x="79633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5"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66" name="Oval 1865"/>
          <p:cNvSpPr/>
          <p:nvPr/>
        </p:nvSpPr>
        <p:spPr>
          <a:xfrm>
            <a:off x="104920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7"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68" name="Oval 1867"/>
          <p:cNvSpPr/>
          <p:nvPr/>
        </p:nvSpPr>
        <p:spPr>
          <a:xfrm>
            <a:off x="96491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69"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0"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1" name="Oval 1870"/>
          <p:cNvSpPr/>
          <p:nvPr/>
        </p:nvSpPr>
        <p:spPr>
          <a:xfrm>
            <a:off x="113348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872"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3" name="Oval 1872"/>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4" name="Oval 1873"/>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5" name="Oval 1874"/>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6" name="Oval 1875"/>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7" name="Oval 1876"/>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8" name="Oval 1877"/>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79" name="Oval 1878"/>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0" name="Oval 1879"/>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1" name="Oval 1880"/>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2" name="Oval 1881"/>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3" name="Oval 1882"/>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4" name="Oval 1883"/>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5" name="Oval 1884"/>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6" name="Oval 1885"/>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7"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8"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89"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0"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1"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2"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3"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4"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5"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6"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7"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8"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899"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0"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1"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2" name="Oval 1901"/>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3" name="Oval 1902"/>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4" name="Oval 1903"/>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5" name="Oval 1904"/>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6" name="Oval 1905"/>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7" name="Oval 1906"/>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8" name="Oval 1907"/>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09" name="Oval 1908"/>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0" name="Oval 1909"/>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1" name="Oval 1910"/>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2" name="Oval 1911"/>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3" name="Oval 1912"/>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4" name="Oval 1913"/>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5" name="Oval 1914"/>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6"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7" name="Oval 1916"/>
          <p:cNvSpPr/>
          <p:nvPr/>
        </p:nvSpPr>
        <p:spPr>
          <a:xfrm>
            <a:off x="71204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18"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19" name="Oval 1918"/>
          <p:cNvSpPr/>
          <p:nvPr/>
        </p:nvSpPr>
        <p:spPr>
          <a:xfrm>
            <a:off x="3774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20"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1"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2"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3"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4"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5"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26" name="Oval 1925"/>
          <p:cNvSpPr/>
          <p:nvPr/>
        </p:nvSpPr>
        <p:spPr>
          <a:xfrm>
            <a:off x="12203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27" name="Oval 1926"/>
          <p:cNvSpPr/>
          <p:nvPr/>
        </p:nvSpPr>
        <p:spPr>
          <a:xfrm>
            <a:off x="20632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28" name="Oval 1927"/>
          <p:cNvSpPr/>
          <p:nvPr/>
        </p:nvSpPr>
        <p:spPr>
          <a:xfrm>
            <a:off x="29060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29" name="Oval 1928"/>
          <p:cNvSpPr/>
          <p:nvPr/>
        </p:nvSpPr>
        <p:spPr>
          <a:xfrm>
            <a:off x="37489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0" name="Oval 1929"/>
          <p:cNvSpPr/>
          <p:nvPr/>
        </p:nvSpPr>
        <p:spPr>
          <a:xfrm>
            <a:off x="45918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1" name="Oval 1930"/>
          <p:cNvSpPr/>
          <p:nvPr/>
        </p:nvSpPr>
        <p:spPr>
          <a:xfrm>
            <a:off x="54347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2" name="Oval 1931"/>
          <p:cNvSpPr/>
          <p:nvPr/>
        </p:nvSpPr>
        <p:spPr>
          <a:xfrm>
            <a:off x="62776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3"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34" name="Oval 1933"/>
          <p:cNvSpPr/>
          <p:nvPr/>
        </p:nvSpPr>
        <p:spPr>
          <a:xfrm>
            <a:off x="88062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5"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36" name="Oval 1935"/>
          <p:cNvSpPr/>
          <p:nvPr/>
        </p:nvSpPr>
        <p:spPr>
          <a:xfrm>
            <a:off x="79633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7"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38" name="Oval 1937"/>
          <p:cNvSpPr/>
          <p:nvPr/>
        </p:nvSpPr>
        <p:spPr>
          <a:xfrm>
            <a:off x="104920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39"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0" name="Oval 1939"/>
          <p:cNvSpPr/>
          <p:nvPr/>
        </p:nvSpPr>
        <p:spPr>
          <a:xfrm>
            <a:off x="96491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3" name="Oval 1942"/>
          <p:cNvSpPr/>
          <p:nvPr/>
        </p:nvSpPr>
        <p:spPr>
          <a:xfrm>
            <a:off x="113348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CN"/>
          </a:p>
        </p:txBody>
      </p:sp>
      <p:sp>
        <p:nvSpPr>
          <p:cNvPr id="1944"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5" name="Oval 1944"/>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6" name="Oval 1945"/>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7" name="Oval 1946"/>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8" name="Oval 1947"/>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49" name="Oval 1948"/>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0" name="Oval 1949"/>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1" name="Oval 1950"/>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2" name="Oval 1951"/>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3" name="Oval 1952"/>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4" name="Oval 1953"/>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5" name="Oval 1954"/>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6" name="Oval 1955"/>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7" name="Oval 1956"/>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8" name="Oval 1957"/>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59"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0"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1"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2"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3"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4"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5"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6"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7"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8"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69"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0"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1"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2"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3"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4" name="Oval 1973"/>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5" name="Oval 1974"/>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6" name="Oval 1975"/>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7" name="Oval 1976"/>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8" name="Oval 1977"/>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79" name="Oval 1978"/>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0" name="Oval 1979"/>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1" name="Oval 1980"/>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2" name="Oval 1981"/>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3" name="Oval 1982"/>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4" name="Oval 1983"/>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5" name="Oval 1984"/>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6" name="Oval 1985"/>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7" name="Oval 1986"/>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8"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89"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0"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1"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2"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3"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4"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5"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6"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7"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8"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1999"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000"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001"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002"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003"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4B03F0D-0D8E-7E48-9BD5-A8EEE0C622D8}"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2BF3B-C511-274B-8D5F-B23B86ABED3A}"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B03F0D-0D8E-7E48-9BD5-A8EEE0C622D8}"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526" name="Group 525"/>
          <p:cNvGrpSpPr/>
          <p:nvPr/>
        </p:nvGrpSpPr>
        <p:grpSpPr>
          <a:xfrm>
            <a:off x="0" y="420256"/>
            <a:ext cx="12188952" cy="3795497"/>
            <a:chOff x="0" y="420256"/>
            <a:chExt cx="12188952" cy="3795497"/>
          </a:xfrm>
        </p:grpSpPr>
        <p:cxnSp>
          <p:nvCxnSpPr>
            <p:cNvPr id="527" name="Straight Connector 526"/>
            <p:cNvCxnSpPr/>
            <p:nvPr/>
          </p:nvCxnSpPr>
          <p:spPr>
            <a:xfrm>
              <a:off x="0" y="4215753"/>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0" y="379403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0" y="337231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p:cNvCxnSpPr/>
            <p:nvPr/>
          </p:nvCxnSpPr>
          <p:spPr>
            <a:xfrm>
              <a:off x="0" y="295058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p:cNvCxnSpPr/>
            <p:nvPr/>
          </p:nvCxnSpPr>
          <p:spPr>
            <a:xfrm>
              <a:off x="0" y="252886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0" y="2107144"/>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p:cNvCxnSpPr/>
            <p:nvPr/>
          </p:nvCxnSpPr>
          <p:spPr>
            <a:xfrm>
              <a:off x="0" y="168542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p:cNvCxnSpPr/>
            <p:nvPr/>
          </p:nvCxnSpPr>
          <p:spPr>
            <a:xfrm>
              <a:off x="0" y="126370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p:cNvCxnSpPr/>
            <p:nvPr/>
          </p:nvCxnSpPr>
          <p:spPr>
            <a:xfrm>
              <a:off x="0" y="84197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p:cNvCxnSpPr/>
            <p:nvPr/>
          </p:nvCxnSpPr>
          <p:spPr>
            <a:xfrm>
              <a:off x="0" y="42025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37"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8"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9"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0"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1"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2"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3"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4"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5"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6"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7"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8"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9"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0"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1"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2"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3"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4"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5"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6"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7"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8"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9"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0"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1"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2"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3"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4"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5"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6"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7"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8"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9"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0"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1"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2"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3"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4"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5"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6"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7"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8"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9"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0"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1"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2"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3"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4"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6"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7"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8"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9"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0"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1"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2" name="Oval 591"/>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3"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4" name="Oval 593"/>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5" name="Oval 594"/>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6" name="Oval 595"/>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7" name="Oval 596"/>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8" name="Oval 597"/>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9" name="Oval 598"/>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0" name="Oval 599"/>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1" name="Oval 600"/>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2" name="Oval 601"/>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3" name="Oval 602"/>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4" name="Oval 603"/>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5" name="Oval 604"/>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6" name="Oval 605"/>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7"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8"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9"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0"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1"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2"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3"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4"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5"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6"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7"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8"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9"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0"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1"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2" name="Oval 621"/>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3" name="Oval 622"/>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4" name="Oval 623"/>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5" name="Oval 624"/>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6" name="Oval 625"/>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7" name="Oval 626"/>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8" name="Oval 627"/>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9" name="Oval 628"/>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0" name="Oval 629"/>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1" name="Oval 630"/>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2" name="Oval 631"/>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3" name="Oval 632"/>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4" name="Oval 633"/>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5"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6" name="Oval 635"/>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7"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8"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9"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0"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1"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2"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3"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4"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5"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6"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7"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8"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9"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0"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1"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2"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3"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4"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5"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6"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7"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8"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9"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0"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1"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2"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3"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4"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5"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6"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7"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8"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9"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0" name="Oval 669"/>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1" name="Oval 670"/>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2" name="Oval 671"/>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3" name="Oval 672"/>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4" name="Oval 673"/>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5" name="Oval 674"/>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6" name="Oval 675"/>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7" name="Oval 676"/>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8" name="Oval 677"/>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9" name="Oval 678"/>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0" name="Oval 679"/>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1" name="Oval 680"/>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2" name="Oval 681"/>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3" name="Oval 682"/>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4"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5"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6"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7"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8"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9"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0"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1"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2"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3"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4"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5"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6"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7"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8"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9" name="Oval 698"/>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0" name="Oval 699"/>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1" name="Oval 700"/>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2" name="Oval 701"/>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3" name="Oval 702"/>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4" name="Oval 703"/>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5" name="Oval 704"/>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6" name="Oval 705"/>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7" name="Oval 706"/>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8" name="Oval 707"/>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9" name="Oval 708"/>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0" name="Oval 709"/>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1" name="Oval 710"/>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2" name="Oval 711"/>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3"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5"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6"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7"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8"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9"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0"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1"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2"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4"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5"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6"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7"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8" name="Oval 727"/>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9" name="Oval 728"/>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0" name="Oval 729"/>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1" name="Oval 730"/>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2" name="Oval 731"/>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3" name="Oval 732"/>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4" name="Oval 733"/>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5" name="Oval 734"/>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6" name="Oval 735"/>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7" name="Oval 736"/>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8" name="Oval 737"/>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9" name="Oval 738"/>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0" name="Oval 739"/>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1" name="Oval 740"/>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2"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3"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4"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5"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6"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7"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8"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9"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0"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1"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2"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3"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4"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5"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6"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7" name="Oval 756"/>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8" name="Oval 757"/>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9" name="Oval 758"/>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0" name="Oval 759"/>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1" name="Oval 760"/>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2" name="Oval 761"/>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3" name="Oval 762"/>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4" name="Oval 763"/>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5" name="Oval 764"/>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6" name="Oval 765"/>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7" name="Oval 766"/>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8" name="Oval 767"/>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9" name="Oval 768"/>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0" name="Oval 769"/>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1"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2"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4"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5"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6"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7"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8"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9"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0"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1"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2"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3"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4"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5"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6" name="Oval 785"/>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7" name="Oval 786"/>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8" name="Oval 787"/>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9" name="Oval 788"/>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0" name="Oval 789"/>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1" name="Oval 790"/>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2" name="Oval 791"/>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3" name="Oval 792"/>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4" name="Oval 793"/>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5" name="Oval 794"/>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6" name="Oval 795"/>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7" name="Oval 796"/>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8" name="Oval 797"/>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9" name="Oval 798"/>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0"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1"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2"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3"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4"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5"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6"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7"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8"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9"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0"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1"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2"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3"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4"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5" name="Oval 814"/>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6" name="Oval 815"/>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7" name="Oval 816"/>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8" name="Oval 817"/>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9" name="Oval 818"/>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0" name="Oval 819"/>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1" name="Oval 820"/>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2" name="Oval 821"/>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3" name="Oval 822"/>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4" name="Oval 823"/>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5" name="Oval 824"/>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6" name="Oval 825"/>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7" name="Oval 826"/>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8" name="Oval 827"/>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9"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0"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1"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2"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3"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4"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5"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6"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7"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8"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9"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0"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3"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4" name="Oval 843"/>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5" name="Oval 844"/>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6" name="Oval 845"/>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7" name="Oval 846"/>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8" name="Oval 847"/>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9" name="Oval 848"/>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0" name="Oval 849"/>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1" name="Oval 850"/>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2" name="Oval 851"/>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3" name="Oval 852"/>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4" name="Oval 853"/>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5" name="Oval 854"/>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6" name="Oval 855"/>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7" name="Oval 856"/>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8"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9"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0"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1"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2"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3"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4"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5"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6"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7"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8"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9"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0"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1"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2"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3" name="Oval 872"/>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4" name="Oval 873"/>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5" name="Oval 874"/>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6" name="Oval 875"/>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7" name="Oval 876"/>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8" name="Oval 877"/>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9" name="Oval 878"/>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0" name="Oval 879"/>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1" name="Oval 880"/>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2" name="Oval 881"/>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3" name="Oval 882"/>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4" name="Oval 883"/>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5" name="Oval 884"/>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6" name="Oval 885"/>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7"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8"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9"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0"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1"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2"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3"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4"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5"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6"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7"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8"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9"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0"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1"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2"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3" name="Oval 902"/>
          <p:cNvSpPr/>
          <p:nvPr/>
        </p:nvSpPr>
        <p:spPr>
          <a:xfrm>
            <a:off x="71204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4" name="Oval 903"/>
          <p:cNvSpPr/>
          <p:nvPr/>
        </p:nvSpPr>
        <p:spPr>
          <a:xfrm>
            <a:off x="3774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5" name="Oval 904"/>
          <p:cNvSpPr/>
          <p:nvPr/>
        </p:nvSpPr>
        <p:spPr>
          <a:xfrm>
            <a:off x="12203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6" name="Oval 905"/>
          <p:cNvSpPr/>
          <p:nvPr/>
        </p:nvSpPr>
        <p:spPr>
          <a:xfrm>
            <a:off x="20632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7" name="Oval 906"/>
          <p:cNvSpPr/>
          <p:nvPr/>
        </p:nvSpPr>
        <p:spPr>
          <a:xfrm>
            <a:off x="29060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8" name="Oval 907"/>
          <p:cNvSpPr/>
          <p:nvPr/>
        </p:nvSpPr>
        <p:spPr>
          <a:xfrm>
            <a:off x="37489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9" name="Oval 908"/>
          <p:cNvSpPr/>
          <p:nvPr/>
        </p:nvSpPr>
        <p:spPr>
          <a:xfrm>
            <a:off x="45918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0" name="Oval 909"/>
          <p:cNvSpPr/>
          <p:nvPr/>
        </p:nvSpPr>
        <p:spPr>
          <a:xfrm>
            <a:off x="54347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1" name="Oval 910"/>
          <p:cNvSpPr/>
          <p:nvPr/>
        </p:nvSpPr>
        <p:spPr>
          <a:xfrm>
            <a:off x="62776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2" name="Oval 911"/>
          <p:cNvSpPr/>
          <p:nvPr/>
        </p:nvSpPr>
        <p:spPr>
          <a:xfrm>
            <a:off x="88062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3" name="Oval 912"/>
          <p:cNvSpPr/>
          <p:nvPr/>
        </p:nvSpPr>
        <p:spPr>
          <a:xfrm>
            <a:off x="79633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4" name="Oval 913"/>
          <p:cNvSpPr/>
          <p:nvPr/>
        </p:nvSpPr>
        <p:spPr>
          <a:xfrm>
            <a:off x="104920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5" name="Oval 914"/>
          <p:cNvSpPr/>
          <p:nvPr/>
        </p:nvSpPr>
        <p:spPr>
          <a:xfrm>
            <a:off x="96491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6" name="Oval 915"/>
          <p:cNvSpPr/>
          <p:nvPr/>
        </p:nvSpPr>
        <p:spPr>
          <a:xfrm>
            <a:off x="113348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7" name="Oval 916"/>
          <p:cNvSpPr/>
          <p:nvPr/>
        </p:nvSpPr>
        <p:spPr>
          <a:xfrm>
            <a:off x="71204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8" name="Oval 917"/>
          <p:cNvSpPr/>
          <p:nvPr/>
        </p:nvSpPr>
        <p:spPr>
          <a:xfrm>
            <a:off x="3774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9" name="Oval 918"/>
          <p:cNvSpPr/>
          <p:nvPr/>
        </p:nvSpPr>
        <p:spPr>
          <a:xfrm>
            <a:off x="12203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0" name="Oval 919"/>
          <p:cNvSpPr/>
          <p:nvPr/>
        </p:nvSpPr>
        <p:spPr>
          <a:xfrm>
            <a:off x="20632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1" name="Oval 920"/>
          <p:cNvSpPr/>
          <p:nvPr/>
        </p:nvSpPr>
        <p:spPr>
          <a:xfrm>
            <a:off x="29060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2" name="Oval 921"/>
          <p:cNvSpPr/>
          <p:nvPr/>
        </p:nvSpPr>
        <p:spPr>
          <a:xfrm>
            <a:off x="37489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3" name="Oval 922"/>
          <p:cNvSpPr/>
          <p:nvPr/>
        </p:nvSpPr>
        <p:spPr>
          <a:xfrm>
            <a:off x="45918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4" name="Oval 923"/>
          <p:cNvSpPr/>
          <p:nvPr/>
        </p:nvSpPr>
        <p:spPr>
          <a:xfrm>
            <a:off x="54347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5" name="Oval 924"/>
          <p:cNvSpPr/>
          <p:nvPr/>
        </p:nvSpPr>
        <p:spPr>
          <a:xfrm>
            <a:off x="62776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6" name="Oval 925"/>
          <p:cNvSpPr/>
          <p:nvPr/>
        </p:nvSpPr>
        <p:spPr>
          <a:xfrm>
            <a:off x="88062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7" name="Oval 926"/>
          <p:cNvSpPr/>
          <p:nvPr/>
        </p:nvSpPr>
        <p:spPr>
          <a:xfrm>
            <a:off x="79633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8" name="Oval 927"/>
          <p:cNvSpPr/>
          <p:nvPr/>
        </p:nvSpPr>
        <p:spPr>
          <a:xfrm>
            <a:off x="104920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9" name="Oval 928"/>
          <p:cNvSpPr/>
          <p:nvPr/>
        </p:nvSpPr>
        <p:spPr>
          <a:xfrm>
            <a:off x="96491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0" name="Oval 929"/>
          <p:cNvSpPr/>
          <p:nvPr/>
        </p:nvSpPr>
        <p:spPr>
          <a:xfrm>
            <a:off x="113348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1" name="Oval 930"/>
          <p:cNvSpPr/>
          <p:nvPr/>
        </p:nvSpPr>
        <p:spPr>
          <a:xfrm>
            <a:off x="71204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2" name="Oval 931"/>
          <p:cNvSpPr/>
          <p:nvPr/>
        </p:nvSpPr>
        <p:spPr>
          <a:xfrm>
            <a:off x="3774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3" name="Oval 932"/>
          <p:cNvSpPr/>
          <p:nvPr/>
        </p:nvSpPr>
        <p:spPr>
          <a:xfrm>
            <a:off x="12203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4" name="Oval 933"/>
          <p:cNvSpPr/>
          <p:nvPr/>
        </p:nvSpPr>
        <p:spPr>
          <a:xfrm>
            <a:off x="20632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5" name="Oval 934"/>
          <p:cNvSpPr/>
          <p:nvPr/>
        </p:nvSpPr>
        <p:spPr>
          <a:xfrm>
            <a:off x="29060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6" name="Oval 935"/>
          <p:cNvSpPr/>
          <p:nvPr/>
        </p:nvSpPr>
        <p:spPr>
          <a:xfrm>
            <a:off x="37489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7" name="Oval 936"/>
          <p:cNvSpPr/>
          <p:nvPr/>
        </p:nvSpPr>
        <p:spPr>
          <a:xfrm>
            <a:off x="45918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8" name="Oval 937"/>
          <p:cNvSpPr/>
          <p:nvPr/>
        </p:nvSpPr>
        <p:spPr>
          <a:xfrm>
            <a:off x="54347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9" name="Oval 938"/>
          <p:cNvSpPr/>
          <p:nvPr/>
        </p:nvSpPr>
        <p:spPr>
          <a:xfrm>
            <a:off x="62776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0" name="Oval 939"/>
          <p:cNvSpPr/>
          <p:nvPr/>
        </p:nvSpPr>
        <p:spPr>
          <a:xfrm>
            <a:off x="88062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1" name="Oval 940"/>
          <p:cNvSpPr/>
          <p:nvPr/>
        </p:nvSpPr>
        <p:spPr>
          <a:xfrm>
            <a:off x="79633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2" name="Oval 941"/>
          <p:cNvSpPr/>
          <p:nvPr/>
        </p:nvSpPr>
        <p:spPr>
          <a:xfrm>
            <a:off x="104920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3" name="Oval 942"/>
          <p:cNvSpPr/>
          <p:nvPr/>
        </p:nvSpPr>
        <p:spPr>
          <a:xfrm>
            <a:off x="96491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4" name="Oval 943"/>
          <p:cNvSpPr/>
          <p:nvPr/>
        </p:nvSpPr>
        <p:spPr>
          <a:xfrm>
            <a:off x="113348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5" name="Oval 944"/>
          <p:cNvSpPr/>
          <p:nvPr/>
        </p:nvSpPr>
        <p:spPr>
          <a:xfrm>
            <a:off x="71204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6" name="Oval 945"/>
          <p:cNvSpPr/>
          <p:nvPr/>
        </p:nvSpPr>
        <p:spPr>
          <a:xfrm>
            <a:off x="3774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7" name="Oval 946"/>
          <p:cNvSpPr/>
          <p:nvPr/>
        </p:nvSpPr>
        <p:spPr>
          <a:xfrm>
            <a:off x="12203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8" name="Oval 947"/>
          <p:cNvSpPr/>
          <p:nvPr/>
        </p:nvSpPr>
        <p:spPr>
          <a:xfrm>
            <a:off x="20632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9" name="Oval 948"/>
          <p:cNvSpPr/>
          <p:nvPr/>
        </p:nvSpPr>
        <p:spPr>
          <a:xfrm>
            <a:off x="29060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0" name="Oval 949"/>
          <p:cNvSpPr/>
          <p:nvPr/>
        </p:nvSpPr>
        <p:spPr>
          <a:xfrm>
            <a:off x="37489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1" name="Oval 950"/>
          <p:cNvSpPr/>
          <p:nvPr/>
        </p:nvSpPr>
        <p:spPr>
          <a:xfrm>
            <a:off x="45918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2" name="Oval 951"/>
          <p:cNvSpPr/>
          <p:nvPr/>
        </p:nvSpPr>
        <p:spPr>
          <a:xfrm>
            <a:off x="54347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3" name="Oval 952"/>
          <p:cNvSpPr/>
          <p:nvPr/>
        </p:nvSpPr>
        <p:spPr>
          <a:xfrm>
            <a:off x="62776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4" name="Oval 953"/>
          <p:cNvSpPr/>
          <p:nvPr/>
        </p:nvSpPr>
        <p:spPr>
          <a:xfrm>
            <a:off x="88062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5" name="Oval 954"/>
          <p:cNvSpPr/>
          <p:nvPr/>
        </p:nvSpPr>
        <p:spPr>
          <a:xfrm>
            <a:off x="79633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6" name="Oval 955"/>
          <p:cNvSpPr/>
          <p:nvPr/>
        </p:nvSpPr>
        <p:spPr>
          <a:xfrm>
            <a:off x="104920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7" name="Oval 956"/>
          <p:cNvSpPr/>
          <p:nvPr/>
        </p:nvSpPr>
        <p:spPr>
          <a:xfrm>
            <a:off x="96491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8" name="Oval 957"/>
          <p:cNvSpPr/>
          <p:nvPr/>
        </p:nvSpPr>
        <p:spPr>
          <a:xfrm>
            <a:off x="113348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9" name="Oval 958"/>
          <p:cNvSpPr/>
          <p:nvPr/>
        </p:nvSpPr>
        <p:spPr>
          <a:xfrm>
            <a:off x="71204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0" name="Oval 959"/>
          <p:cNvSpPr/>
          <p:nvPr/>
        </p:nvSpPr>
        <p:spPr>
          <a:xfrm>
            <a:off x="3774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1" name="Oval 960"/>
          <p:cNvSpPr/>
          <p:nvPr/>
        </p:nvSpPr>
        <p:spPr>
          <a:xfrm>
            <a:off x="12203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2" name="Oval 961"/>
          <p:cNvSpPr/>
          <p:nvPr/>
        </p:nvSpPr>
        <p:spPr>
          <a:xfrm>
            <a:off x="20632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3" name="Oval 962"/>
          <p:cNvSpPr/>
          <p:nvPr/>
        </p:nvSpPr>
        <p:spPr>
          <a:xfrm>
            <a:off x="29060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4" name="Oval 963"/>
          <p:cNvSpPr/>
          <p:nvPr/>
        </p:nvSpPr>
        <p:spPr>
          <a:xfrm>
            <a:off x="37489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5" name="Oval 964"/>
          <p:cNvSpPr/>
          <p:nvPr/>
        </p:nvSpPr>
        <p:spPr>
          <a:xfrm>
            <a:off x="45918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6" name="Oval 965"/>
          <p:cNvSpPr/>
          <p:nvPr/>
        </p:nvSpPr>
        <p:spPr>
          <a:xfrm>
            <a:off x="54347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7" name="Oval 966"/>
          <p:cNvSpPr/>
          <p:nvPr/>
        </p:nvSpPr>
        <p:spPr>
          <a:xfrm>
            <a:off x="62776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8" name="Oval 967"/>
          <p:cNvSpPr/>
          <p:nvPr/>
        </p:nvSpPr>
        <p:spPr>
          <a:xfrm>
            <a:off x="88062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9" name="Oval 968"/>
          <p:cNvSpPr/>
          <p:nvPr/>
        </p:nvSpPr>
        <p:spPr>
          <a:xfrm>
            <a:off x="79633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0" name="Oval 969"/>
          <p:cNvSpPr/>
          <p:nvPr/>
        </p:nvSpPr>
        <p:spPr>
          <a:xfrm>
            <a:off x="104920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1" name="Oval 970"/>
          <p:cNvSpPr/>
          <p:nvPr/>
        </p:nvSpPr>
        <p:spPr>
          <a:xfrm>
            <a:off x="96491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2" name="Oval 971"/>
          <p:cNvSpPr/>
          <p:nvPr/>
        </p:nvSpPr>
        <p:spPr>
          <a:xfrm>
            <a:off x="113348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B03F0D-0D8E-7E48-9BD5-A8EEE0C622D8}"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2BF3B-C511-274B-8D5F-B23B86ABED3A}"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B03F0D-0D8E-7E48-9BD5-A8EEE0C622D8}"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3"/>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3"/>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B03F0D-0D8E-7E48-9BD5-A8EEE0C622D8}"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B03F0D-0D8E-7E48-9BD5-A8EEE0C622D8}"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B03F0D-0D8E-7E48-9BD5-A8EEE0C622D8}"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B03F0D-0D8E-7E48-9BD5-A8EEE0C622D8}"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hasCustomPrompt="1"/>
          </p:nvPr>
        </p:nvSpPr>
        <p:spPr>
          <a:xfrm>
            <a:off x="0" y="-1"/>
            <a:ext cx="12188952" cy="4572000"/>
          </a:xfrm>
          <a:solidFill>
            <a:schemeClr val="accent3">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B03F0D-0D8E-7E48-9BD5-A8EEE0C622D8}"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2BF3B-C511-274B-8D5F-B23B86ABED3A}" type="slidenum">
              <a:rPr lang="en-US" smtClean="0"/>
              <a:t>‹#›</a:t>
            </a:fld>
            <a:endParaRPr lang="en-US"/>
          </a:p>
        </p:txBody>
      </p:sp>
      <p:cxnSp>
        <p:nvCxnSpPr>
          <p:cNvPr id="9" name="Straight Connector 8"/>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B03F0D-0D8E-7E48-9BD5-A8EEE0C622D8}"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2BF3B-C511-274B-8D5F-B23B86ABED3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B03F0D-0D8E-7E48-9BD5-A8EEE0C622D8}"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2BF3B-C511-274B-8D5F-B23B86ABED3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4B03F0D-0D8E-7E48-9BD5-A8EEE0C622D8}" type="datetimeFigureOut">
              <a:rPr lang="en-US" smtClean="0"/>
              <a:t>5/5/2026</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EB2BF3B-C511-274B-8D5F-B23B86ABED3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3"/>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bluecastle-cn-surveys.nottingham.ac.uk/"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zh-CN" sz="6600" dirty="0"/>
              <a:t>Revision-first</a:t>
            </a:r>
            <a:r>
              <a:rPr lang="zh-CN" altLang="en-US" sz="6600" dirty="0"/>
              <a:t> </a:t>
            </a:r>
            <a:r>
              <a:rPr lang="en-US" altLang="zh-CN" sz="6600" dirty="0"/>
              <a:t>part</a:t>
            </a:r>
            <a:br>
              <a:rPr lang="en-US" sz="6600" dirty="0"/>
            </a:br>
            <a:r>
              <a:rPr lang="en-US" sz="6000" dirty="0"/>
              <a:t>fundamentals of AI(</a:t>
            </a:r>
            <a:r>
              <a:rPr lang="en-US" altLang="zh-CN" sz="6000" dirty="0"/>
              <a:t>comp1037</a:t>
            </a:r>
            <a:r>
              <a:rPr lang="en-US" sz="6000" dirty="0"/>
              <a:t>) </a:t>
            </a:r>
            <a:endParaRPr lang="en-US" dirty="0"/>
          </a:p>
        </p:txBody>
      </p:sp>
      <p:sp>
        <p:nvSpPr>
          <p:cNvPr id="3" name="Subtitle 2"/>
          <p:cNvSpPr>
            <a:spLocks noGrp="1"/>
          </p:cNvSpPr>
          <p:nvPr>
            <p:ph type="subTitle" idx="1"/>
          </p:nvPr>
        </p:nvSpPr>
        <p:spPr>
          <a:xfrm>
            <a:off x="8610599" y="4960137"/>
            <a:ext cx="3335977" cy="1463040"/>
          </a:xfrm>
        </p:spPr>
        <p:txBody>
          <a:bodyPr/>
          <a:lstStyle/>
          <a:p>
            <a:endParaRPr lang="en-US" altLang="zh-CN" dirty="0"/>
          </a:p>
          <a:p>
            <a:r>
              <a:rPr lang="en-US" altLang="zh-CN" dirty="0" err="1"/>
              <a:t>Dr</a:t>
            </a:r>
            <a:r>
              <a:rPr lang="zh-CN" altLang="en-US" dirty="0"/>
              <a:t> </a:t>
            </a:r>
            <a:r>
              <a:rPr lang="en-US" altLang="zh-CN" dirty="0"/>
              <a:t>Qian</a:t>
            </a:r>
            <a:r>
              <a:rPr lang="zh-CN" altLang="en-US" dirty="0"/>
              <a:t> </a:t>
            </a:r>
            <a:r>
              <a:rPr lang="en-US" altLang="zh-CN" dirty="0"/>
              <a:t>Zhang and Dr</a:t>
            </a:r>
            <a:r>
              <a:rPr lang="zh-CN" altLang="en-US" dirty="0"/>
              <a:t> </a:t>
            </a:r>
            <a:r>
              <a:rPr lang="en-US" altLang="zh-CN" dirty="0" err="1"/>
              <a:t>Xinan</a:t>
            </a:r>
            <a:r>
              <a:rPr lang="zh-CN" altLang="en-US" dirty="0"/>
              <a:t> </a:t>
            </a:r>
            <a:r>
              <a:rPr lang="en-US" altLang="zh-CN" dirty="0"/>
              <a:t>Chen</a:t>
            </a:r>
          </a:p>
          <a:p>
            <a:r>
              <a:rPr lang="en-US" altLang="zh-CN" dirty="0"/>
              <a:t>Spring</a:t>
            </a:r>
            <a:r>
              <a:rPr lang="zh-CN" altLang="en-US" dirty="0"/>
              <a:t> </a:t>
            </a:r>
            <a:r>
              <a:rPr lang="en-US" altLang="zh-CN" dirty="0"/>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756" y="267694"/>
            <a:ext cx="9720072" cy="1499616"/>
          </a:xfrm>
        </p:spPr>
        <p:txBody>
          <a:bodyPr/>
          <a:lstStyle/>
          <a:p>
            <a:r>
              <a:rPr lang="en-US" dirty="0"/>
              <a:t>SET / </a:t>
            </a:r>
            <a:r>
              <a:rPr lang="en-US" dirty="0" err="1"/>
              <a:t>sem</a:t>
            </a:r>
            <a:r>
              <a:rPr lang="zh-CN" altLang="en-US" dirty="0"/>
              <a:t> </a:t>
            </a:r>
            <a:r>
              <a:rPr lang="en-US" dirty="0"/>
              <a:t> </a:t>
            </a:r>
          </a:p>
        </p:txBody>
      </p:sp>
      <p:sp>
        <p:nvSpPr>
          <p:cNvPr id="5" name="Content Placeholder 4"/>
          <p:cNvSpPr>
            <a:spLocks noGrp="1"/>
          </p:cNvSpPr>
          <p:nvPr>
            <p:ph idx="1"/>
          </p:nvPr>
        </p:nvSpPr>
        <p:spPr>
          <a:xfrm>
            <a:off x="751842" y="1375820"/>
            <a:ext cx="8047602" cy="1568866"/>
          </a:xfrm>
        </p:spPr>
        <p:txBody>
          <a:bodyPr/>
          <a:lstStyle/>
          <a:p>
            <a:r>
              <a:rPr lang="en-US" sz="2400" dirty="0"/>
              <a:t>Target completion rate 50%</a:t>
            </a:r>
          </a:p>
          <a:p>
            <a:endParaRPr lang="en-US" altLang="zh-CN" dirty="0"/>
          </a:p>
          <a:p>
            <a:pPr marL="0" indent="0">
              <a:buNone/>
            </a:pPr>
            <a:r>
              <a:rPr lang="zh-CN" altLang="en-US" sz="2800" dirty="0"/>
              <a:t>    </a:t>
            </a:r>
            <a:r>
              <a:rPr lang="en-US" sz="2800" dirty="0"/>
              <a:t>Strongly Agree </a:t>
            </a:r>
            <a:r>
              <a:rPr lang="zh-CN" altLang="en-US" sz="2800" dirty="0"/>
              <a:t>    </a:t>
            </a:r>
            <a:r>
              <a:rPr lang="en-US" altLang="zh-CN" sz="2800" dirty="0"/>
              <a:t>=</a:t>
            </a:r>
            <a:r>
              <a:rPr lang="zh-CN" altLang="en-US" sz="2800" dirty="0"/>
              <a:t> </a:t>
            </a:r>
            <a:r>
              <a:rPr lang="en-US" altLang="zh-CN" sz="2800" dirty="0"/>
              <a:t>&gt;</a:t>
            </a:r>
            <a:endParaRPr lang="en-US" sz="2800" dirty="0"/>
          </a:p>
        </p:txBody>
      </p:sp>
      <p:pic>
        <p:nvPicPr>
          <p:cNvPr id="7" name="Picture 6"/>
          <p:cNvPicPr>
            <a:picLocks noChangeAspect="1"/>
          </p:cNvPicPr>
          <p:nvPr/>
        </p:nvPicPr>
        <p:blipFill>
          <a:blip r:embed="rId2"/>
          <a:stretch>
            <a:fillRect/>
          </a:stretch>
        </p:blipFill>
        <p:spPr>
          <a:xfrm>
            <a:off x="4612028" y="1738167"/>
            <a:ext cx="2413175" cy="1499616"/>
          </a:xfrm>
          <a:prstGeom prst="rect">
            <a:avLst/>
          </a:prstGeom>
        </p:spPr>
      </p:pic>
      <p:pic>
        <p:nvPicPr>
          <p:cNvPr id="9" name="Picture 8" descr="A picture containing clipart&#10;&#10;Description automatically generated"/>
          <p:cNvPicPr>
            <a:picLocks noChangeAspect="1"/>
          </p:cNvPicPr>
          <p:nvPr/>
        </p:nvPicPr>
        <p:blipFill>
          <a:blip r:embed="rId3"/>
          <a:stretch>
            <a:fillRect/>
          </a:stretch>
        </p:blipFill>
        <p:spPr>
          <a:xfrm>
            <a:off x="5157857" y="3349277"/>
            <a:ext cx="1665904" cy="1330462"/>
          </a:xfrm>
          <a:prstGeom prst="rect">
            <a:avLst/>
          </a:prstGeom>
        </p:spPr>
      </p:pic>
      <p:pic>
        <p:nvPicPr>
          <p:cNvPr id="10" name="Picture 9"/>
          <p:cNvPicPr>
            <a:picLocks noChangeAspect="1"/>
          </p:cNvPicPr>
          <p:nvPr/>
        </p:nvPicPr>
        <p:blipFill>
          <a:blip r:embed="rId4"/>
          <a:stretch>
            <a:fillRect/>
          </a:stretch>
        </p:blipFill>
        <p:spPr>
          <a:xfrm>
            <a:off x="4612028" y="4791233"/>
            <a:ext cx="2105715" cy="1543886"/>
          </a:xfrm>
          <a:prstGeom prst="rect">
            <a:avLst/>
          </a:prstGeom>
        </p:spPr>
      </p:pic>
      <p:sp>
        <p:nvSpPr>
          <p:cNvPr id="11" name="TextBox 10"/>
          <p:cNvSpPr txBox="1"/>
          <p:nvPr/>
        </p:nvSpPr>
        <p:spPr>
          <a:xfrm>
            <a:off x="1188372" y="5563176"/>
            <a:ext cx="3423656" cy="523220"/>
          </a:xfrm>
          <a:prstGeom prst="rect">
            <a:avLst/>
          </a:prstGeom>
          <a:noFill/>
        </p:spPr>
        <p:txBody>
          <a:bodyPr wrap="square" rtlCol="0">
            <a:spAutoFit/>
          </a:bodyPr>
          <a:lstStyle/>
          <a:p>
            <a:r>
              <a:rPr lang="en-US" altLang="zh-CN" sz="2800" dirty="0"/>
              <a:t>Strongly</a:t>
            </a:r>
            <a:r>
              <a:rPr lang="zh-CN" altLang="en-US" sz="2800" dirty="0"/>
              <a:t> </a:t>
            </a:r>
            <a:r>
              <a:rPr lang="en-US" altLang="zh-CN" sz="2800" dirty="0"/>
              <a:t>Disagree</a:t>
            </a:r>
            <a:r>
              <a:rPr lang="zh-CN" altLang="en-US" sz="2800" dirty="0"/>
              <a:t> </a:t>
            </a:r>
            <a:r>
              <a:rPr lang="en-US" altLang="zh-CN" sz="2800" dirty="0"/>
              <a:t>=</a:t>
            </a:r>
            <a:r>
              <a:rPr lang="zh-CN" altLang="en-US" sz="2800" dirty="0"/>
              <a:t> </a:t>
            </a:r>
            <a:r>
              <a:rPr lang="en-US" altLang="zh-CN" sz="2800" dirty="0"/>
              <a:t>&gt;</a:t>
            </a:r>
            <a:endParaRPr lang="en-US" sz="2800" dirty="0"/>
          </a:p>
        </p:txBody>
      </p:sp>
      <p:sp>
        <p:nvSpPr>
          <p:cNvPr id="12" name="TextBox 11"/>
          <p:cNvSpPr txBox="1"/>
          <p:nvPr/>
        </p:nvSpPr>
        <p:spPr>
          <a:xfrm>
            <a:off x="1188372" y="3814811"/>
            <a:ext cx="3587271" cy="523220"/>
          </a:xfrm>
          <a:prstGeom prst="rect">
            <a:avLst/>
          </a:prstGeom>
          <a:noFill/>
        </p:spPr>
        <p:txBody>
          <a:bodyPr wrap="square" rtlCol="0">
            <a:spAutoFit/>
          </a:bodyPr>
          <a:lstStyle/>
          <a:p>
            <a:r>
              <a:rPr lang="en-US" altLang="zh-CN" sz="2800" dirty="0"/>
              <a:t>Neutral</a:t>
            </a:r>
            <a:r>
              <a:rPr lang="zh-CN" altLang="en-US" sz="2800" dirty="0"/>
              <a:t>               </a:t>
            </a:r>
            <a:r>
              <a:rPr lang="en-US" altLang="zh-CN" sz="2800" dirty="0"/>
              <a:t>=</a:t>
            </a:r>
            <a:r>
              <a:rPr lang="zh-CN" altLang="en-US" sz="2800" dirty="0"/>
              <a:t> </a:t>
            </a:r>
            <a:r>
              <a:rPr lang="en-US" altLang="zh-CN" sz="2800" dirty="0"/>
              <a:t>&gt;</a:t>
            </a:r>
            <a:endParaRPr lang="en-US" sz="2800" dirty="0"/>
          </a:p>
        </p:txBody>
      </p:sp>
      <p:sp>
        <p:nvSpPr>
          <p:cNvPr id="14" name="Rectangle 13"/>
          <p:cNvSpPr/>
          <p:nvPr/>
        </p:nvSpPr>
        <p:spPr>
          <a:xfrm>
            <a:off x="6691239" y="1320321"/>
            <a:ext cx="5498101" cy="369332"/>
          </a:xfrm>
          <a:prstGeom prst="rect">
            <a:avLst/>
          </a:prstGeom>
        </p:spPr>
        <p:txBody>
          <a:bodyPr wrap="square">
            <a:spAutoFit/>
          </a:bodyPr>
          <a:lstStyle/>
          <a:p>
            <a:r>
              <a:rPr lang="en-US" dirty="0">
                <a:latin typeface="Microsoft Yahei UI" panose="020B0503020204020204" pitchFamily="34" charset="-122"/>
                <a:ea typeface="Microsoft Yahei UI" panose="020B0503020204020204" pitchFamily="34" charset="-122"/>
                <a:hlinkClick r:id="rId5"/>
              </a:rPr>
              <a:t>https://bluecastle-cn-surveys.nottingham.ac.uk</a:t>
            </a:r>
            <a:endParaRPr lang="en-US" dirty="0"/>
          </a:p>
        </p:txBody>
      </p:sp>
      <p:pic>
        <p:nvPicPr>
          <p:cNvPr id="1026" name="Picture 2">
            <a:extLst>
              <a:ext uri="{FF2B5EF4-FFF2-40B4-BE49-F238E27FC236}">
                <a16:creationId xmlns:a16="http://schemas.microsoft.com/office/drawing/2014/main" id="{D7E0C8CE-FED4-CB45-6F40-53DAF66CED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45389" y="2819937"/>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 Paper Format</a:t>
            </a:r>
            <a:endParaRPr lang="en-US" dirty="0"/>
          </a:p>
        </p:txBody>
      </p:sp>
      <p:sp>
        <p:nvSpPr>
          <p:cNvPr id="3" name="Content Placeholder 2"/>
          <p:cNvSpPr>
            <a:spLocks noGrp="1"/>
          </p:cNvSpPr>
          <p:nvPr>
            <p:ph idx="1"/>
          </p:nvPr>
        </p:nvSpPr>
        <p:spPr>
          <a:xfrm>
            <a:off x="937631" y="2084832"/>
            <a:ext cx="9720071" cy="4023360"/>
          </a:xfrm>
        </p:spPr>
        <p:txBody>
          <a:bodyPr>
            <a:normAutofit fontScale="62500" lnSpcReduction="20000"/>
          </a:bodyPr>
          <a:lstStyle/>
          <a:p>
            <a:pPr>
              <a:buFont typeface="Wingdings" panose="05000000000000000000" pitchFamily="2" charset="2"/>
              <a:buChar char="v"/>
            </a:pPr>
            <a:r>
              <a:rPr lang="en-GB" sz="2800" b="1" dirty="0"/>
              <a:t>75%</a:t>
            </a:r>
            <a:r>
              <a:rPr lang="en-GB" sz="2800" dirty="0"/>
              <a:t> Examination, 25% Coursework</a:t>
            </a:r>
          </a:p>
          <a:p>
            <a:pPr>
              <a:buFont typeface="Wingdings" panose="05000000000000000000" pitchFamily="2" charset="2"/>
              <a:buChar char="v"/>
            </a:pPr>
            <a:endParaRPr lang="en-GB" sz="2800" dirty="0"/>
          </a:p>
          <a:p>
            <a:pPr>
              <a:buFont typeface="Wingdings" panose="05000000000000000000" pitchFamily="2" charset="2"/>
              <a:buChar char="v"/>
            </a:pPr>
            <a:r>
              <a:rPr lang="en-US" altLang="zh-CN" sz="2800" b="1" dirty="0"/>
              <a:t>3</a:t>
            </a:r>
            <a:r>
              <a:rPr lang="en-GB" sz="2800" b="1" dirty="0"/>
              <a:t>  </a:t>
            </a:r>
            <a:r>
              <a:rPr lang="en-GB" sz="2800" dirty="0"/>
              <a:t>Questions</a:t>
            </a:r>
          </a:p>
          <a:p>
            <a:pPr lvl="1">
              <a:buFont typeface="Wingdings" panose="05000000000000000000" pitchFamily="2" charset="2"/>
              <a:buChar char="v"/>
            </a:pPr>
            <a:r>
              <a:rPr lang="en-GB" sz="2400" dirty="0"/>
              <a:t>Question 1 Problem Formulation and Tree Search [20 Marks]</a:t>
            </a:r>
          </a:p>
          <a:p>
            <a:pPr lvl="1">
              <a:buFont typeface="Wingdings" panose="05000000000000000000" pitchFamily="2" charset="2"/>
              <a:buChar char="v"/>
            </a:pPr>
            <a:r>
              <a:rPr lang="en-GB" sz="2400" dirty="0"/>
              <a:t>Question 2 AI basics and Game Theory [20 Marks]</a:t>
            </a:r>
          </a:p>
          <a:p>
            <a:pPr lvl="1">
              <a:buFont typeface="Wingdings" panose="05000000000000000000" pitchFamily="2" charset="2"/>
              <a:buChar char="v"/>
            </a:pPr>
            <a:r>
              <a:rPr lang="en-GB" sz="2400" dirty="0"/>
              <a:t>Question 3 Machine Learning and MDP [35 Marks]</a:t>
            </a:r>
          </a:p>
          <a:p>
            <a:pPr>
              <a:buFont typeface="Wingdings" panose="05000000000000000000" pitchFamily="2" charset="2"/>
              <a:buChar char="v"/>
            </a:pPr>
            <a:endParaRPr lang="en-GB" sz="2800" dirty="0"/>
          </a:p>
          <a:p>
            <a:pPr>
              <a:buFont typeface="Wingdings" panose="05000000000000000000" pitchFamily="2" charset="2"/>
              <a:buChar char="v"/>
            </a:pPr>
            <a:r>
              <a:rPr lang="en-GB" sz="2800" dirty="0"/>
              <a:t>Exam duration </a:t>
            </a:r>
            <a:r>
              <a:rPr lang="en-US" altLang="zh-CN" sz="2800" b="1" dirty="0">
                <a:solidFill>
                  <a:srgbClr val="FF0000"/>
                </a:solidFill>
              </a:rPr>
              <a:t>2</a:t>
            </a:r>
            <a:r>
              <a:rPr lang="en-GB" sz="2800" b="1" dirty="0">
                <a:solidFill>
                  <a:srgbClr val="FF0000"/>
                </a:solidFill>
              </a:rPr>
              <a:t> hours</a:t>
            </a:r>
          </a:p>
          <a:p>
            <a:pPr>
              <a:buFont typeface="Wingdings" panose="05000000000000000000" pitchFamily="2" charset="2"/>
              <a:buChar char="v"/>
            </a:pPr>
            <a:endParaRPr lang="en-GB" sz="2800" b="1" dirty="0"/>
          </a:p>
          <a:p>
            <a:pPr>
              <a:buFont typeface="Wingdings" panose="05000000000000000000" pitchFamily="2" charset="2"/>
              <a:buChar char="v"/>
            </a:pPr>
            <a:r>
              <a:rPr lang="en-GB" sz="2800" b="1" dirty="0"/>
              <a:t>Knowledge &amp; Comprehension &amp; Application</a:t>
            </a:r>
          </a:p>
          <a:p>
            <a:pPr>
              <a:buFont typeface="Wingdings" panose="05000000000000000000" pitchFamily="2" charset="2"/>
              <a:buChar char="v"/>
            </a:pPr>
            <a:endParaRPr lang="en-GB" sz="2800" b="1" dirty="0"/>
          </a:p>
          <a:p>
            <a:pPr>
              <a:buFont typeface="Wingdings" panose="05000000000000000000" pitchFamily="2" charset="2"/>
              <a:buChar char="v"/>
            </a:pPr>
            <a:r>
              <a:rPr lang="en-US" altLang="zh-CN" sz="2800" b="1" dirty="0"/>
              <a:t>Lab</a:t>
            </a:r>
            <a:r>
              <a:rPr lang="zh-CN" altLang="en-US" sz="2800" b="1" dirty="0"/>
              <a:t> </a:t>
            </a:r>
            <a:r>
              <a:rPr lang="en-US" altLang="zh-CN" sz="2800" b="1" dirty="0"/>
              <a:t>content</a:t>
            </a:r>
            <a:r>
              <a:rPr lang="zh-CN" altLang="en-US" sz="2800" b="1" dirty="0"/>
              <a:t> </a:t>
            </a:r>
            <a:r>
              <a:rPr lang="en-US" altLang="zh-CN" sz="2800" b="1" dirty="0"/>
              <a:t>will</a:t>
            </a:r>
            <a:r>
              <a:rPr lang="zh-CN" altLang="en-US" sz="2800" b="1" dirty="0"/>
              <a:t> </a:t>
            </a:r>
            <a:r>
              <a:rPr lang="en-US" altLang="zh-CN" sz="2800" b="1" dirty="0"/>
              <a:t>not</a:t>
            </a:r>
            <a:r>
              <a:rPr lang="zh-CN" altLang="en-US" sz="2800" b="1" dirty="0"/>
              <a:t> </a:t>
            </a:r>
            <a:r>
              <a:rPr lang="en-US" altLang="zh-CN" sz="2800" b="1" dirty="0"/>
              <a:t>be</a:t>
            </a:r>
            <a:r>
              <a:rPr lang="zh-CN" altLang="en-US" sz="2800" b="1" dirty="0"/>
              <a:t> </a:t>
            </a:r>
            <a:r>
              <a:rPr lang="en-US" altLang="zh-CN" sz="2800" b="1" dirty="0"/>
              <a:t>included</a:t>
            </a:r>
            <a:r>
              <a:rPr lang="zh-CN" altLang="en-US" sz="2800" b="1" dirty="0"/>
              <a:t> </a:t>
            </a:r>
            <a:r>
              <a:rPr lang="en-US" altLang="zh-CN" sz="2800" b="1" dirty="0"/>
              <a:t>(</a:t>
            </a:r>
            <a:r>
              <a:rPr lang="en-US" altLang="zh-CN" sz="2800" b="1" dirty="0">
                <a:solidFill>
                  <a:srgbClr val="FF0000"/>
                </a:solidFill>
              </a:rPr>
              <a:t>NO</a:t>
            </a:r>
            <a:r>
              <a:rPr lang="zh-CN" altLang="en-US" sz="2800" b="1" dirty="0">
                <a:solidFill>
                  <a:srgbClr val="FF0000"/>
                </a:solidFill>
              </a:rPr>
              <a:t> </a:t>
            </a:r>
            <a:r>
              <a:rPr lang="en-US" altLang="zh-CN" sz="2800" b="1" dirty="0">
                <a:solidFill>
                  <a:srgbClr val="FF0000"/>
                </a:solidFill>
              </a:rPr>
              <a:t>CODE</a:t>
            </a:r>
            <a:r>
              <a:rPr lang="en-US" altLang="zh-CN" sz="2800" b="1" dirty="0"/>
              <a:t>)</a:t>
            </a:r>
            <a:endParaRPr lang="en-GB" sz="2800" b="1"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Past</a:t>
            </a:r>
            <a:r>
              <a:rPr lang="zh-CN" altLang="en-US" dirty="0"/>
              <a:t> </a:t>
            </a:r>
            <a:r>
              <a:rPr lang="en-US" altLang="zh-CN" dirty="0"/>
              <a:t>paper</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altLang="zh-CN" sz="2800" dirty="0"/>
              <a:t>Three</a:t>
            </a:r>
            <a:r>
              <a:rPr lang="zh-CN" altLang="en-US" sz="2800" dirty="0"/>
              <a:t> </a:t>
            </a:r>
            <a:r>
              <a:rPr lang="en-US" altLang="zh-CN" sz="2800" dirty="0"/>
              <a:t>past</a:t>
            </a:r>
            <a:r>
              <a:rPr lang="zh-CN" altLang="en-US" sz="2800" dirty="0"/>
              <a:t> </a:t>
            </a:r>
            <a:r>
              <a:rPr lang="en-US" altLang="zh-CN" sz="2800" dirty="0"/>
              <a:t>papers</a:t>
            </a:r>
            <a:r>
              <a:rPr lang="zh-CN" altLang="en-US" sz="2800" dirty="0"/>
              <a:t> </a:t>
            </a:r>
            <a:r>
              <a:rPr lang="en-US" altLang="zh-CN" sz="2800" dirty="0"/>
              <a:t>on</a:t>
            </a:r>
            <a:r>
              <a:rPr lang="zh-CN" altLang="en-US" sz="2800" dirty="0"/>
              <a:t> </a:t>
            </a:r>
            <a:r>
              <a:rPr lang="en-US" altLang="zh-CN" sz="2800" dirty="0"/>
              <a:t>Moodle</a:t>
            </a:r>
            <a:r>
              <a:rPr lang="zh-CN" altLang="en-US" sz="2800" dirty="0"/>
              <a:t> </a:t>
            </a:r>
            <a:r>
              <a:rPr lang="en-US" altLang="zh-CN" sz="2800" dirty="0"/>
              <a:t>page</a:t>
            </a:r>
            <a:r>
              <a:rPr lang="zh-CN" altLang="en-US" sz="2800" dirty="0"/>
              <a:t> </a:t>
            </a:r>
            <a:r>
              <a:rPr lang="en-US" altLang="zh-CN" sz="2800" dirty="0"/>
              <a:t>(2014,</a:t>
            </a:r>
            <a:r>
              <a:rPr lang="zh-CN" altLang="en-US" sz="2800" dirty="0"/>
              <a:t> </a:t>
            </a:r>
            <a:r>
              <a:rPr lang="en-US" altLang="zh-CN" sz="2800" dirty="0"/>
              <a:t>2017,2020,</a:t>
            </a:r>
            <a:r>
              <a:rPr lang="zh-CN" altLang="en-US" sz="2800" dirty="0"/>
              <a:t> </a:t>
            </a:r>
            <a:r>
              <a:rPr lang="en-US" altLang="zh-CN" sz="2800" dirty="0">
                <a:solidFill>
                  <a:srgbClr val="FF0000"/>
                </a:solidFill>
              </a:rPr>
              <a:t>2024</a:t>
            </a:r>
            <a:r>
              <a:rPr lang="en-US" altLang="zh-CN" sz="2800" dirty="0"/>
              <a:t>)</a:t>
            </a:r>
          </a:p>
          <a:p>
            <a:pPr>
              <a:buFont typeface="Wingdings" panose="05000000000000000000" pitchFamily="2" charset="2"/>
              <a:buChar char="v"/>
            </a:pPr>
            <a:endParaRPr lang="en-US" altLang="zh-CN" sz="2800" dirty="0"/>
          </a:p>
          <a:p>
            <a:pPr>
              <a:buFont typeface="Wingdings" panose="05000000000000000000" pitchFamily="2" charset="2"/>
              <a:buChar char="v"/>
            </a:pPr>
            <a:r>
              <a:rPr lang="en-US" altLang="zh-CN" sz="2800" dirty="0"/>
              <a:t>Similar</a:t>
            </a:r>
            <a:r>
              <a:rPr lang="zh-CN" altLang="en-US" sz="2800" dirty="0"/>
              <a:t> </a:t>
            </a:r>
            <a:r>
              <a:rPr lang="en-US" altLang="zh-CN" sz="2800" dirty="0"/>
              <a:t>Format</a:t>
            </a:r>
            <a:r>
              <a:rPr lang="zh-CN" altLang="en-US" sz="2800" dirty="0"/>
              <a:t> </a:t>
            </a:r>
            <a:endParaRPr lang="en-US" altLang="zh-CN" sz="2800" dirty="0"/>
          </a:p>
          <a:p>
            <a:pPr>
              <a:buFont typeface="Wingdings" panose="05000000000000000000" pitchFamily="2" charset="2"/>
              <a:buChar char="v"/>
            </a:pPr>
            <a:endParaRPr lang="en-US" altLang="zh-CN" sz="2800" dirty="0"/>
          </a:p>
          <a:p>
            <a:pPr>
              <a:buFont typeface="Wingdings" panose="05000000000000000000" pitchFamily="2" charset="2"/>
              <a:buChar char="v"/>
            </a:pPr>
            <a:r>
              <a:rPr lang="en-US" altLang="zh-CN" sz="2800" dirty="0"/>
              <a:t>Solution</a:t>
            </a:r>
            <a:r>
              <a:rPr lang="zh-CN" altLang="en-US" sz="2800" dirty="0"/>
              <a:t> </a:t>
            </a:r>
            <a:r>
              <a:rPr lang="en-US" altLang="zh-CN" sz="2800" dirty="0"/>
              <a:t>won’t</a:t>
            </a:r>
            <a:r>
              <a:rPr lang="zh-CN" altLang="en-US" sz="2800" dirty="0"/>
              <a:t> </a:t>
            </a:r>
            <a:r>
              <a:rPr lang="en-US" altLang="zh-CN" sz="2800" dirty="0"/>
              <a:t>be</a:t>
            </a:r>
            <a:r>
              <a:rPr lang="zh-CN" altLang="en-US" sz="2800" dirty="0"/>
              <a:t> </a:t>
            </a:r>
            <a:r>
              <a:rPr lang="en-US" altLang="zh-CN" sz="2800" dirty="0"/>
              <a:t>provided!!!!</a:t>
            </a:r>
          </a:p>
          <a:p>
            <a:pPr>
              <a:buFont typeface="Wingdings" panose="05000000000000000000" pitchFamily="2" charset="2"/>
              <a:buChar char="v"/>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047ABC-260B-2394-996C-BE658E088AE8}"/>
              </a:ext>
            </a:extLst>
          </p:cNvPr>
          <p:cNvPicPr>
            <a:picLocks noChangeAspect="1"/>
          </p:cNvPicPr>
          <p:nvPr/>
        </p:nvPicPr>
        <p:blipFill>
          <a:blip r:embed="rId3"/>
          <a:stretch>
            <a:fillRect/>
          </a:stretch>
        </p:blipFill>
        <p:spPr>
          <a:xfrm>
            <a:off x="2305687" y="0"/>
            <a:ext cx="7580626"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Core of </a:t>
            </a:r>
            <a:r>
              <a:rPr lang="en-US" altLang="zh-CN" dirty="0"/>
              <a:t>F</a:t>
            </a:r>
            <a:r>
              <a:rPr dirty="0"/>
              <a:t>AI: Agents &amp; Environments</a:t>
            </a:r>
          </a:p>
        </p:txBody>
      </p:sp>
      <p:sp>
        <p:nvSpPr>
          <p:cNvPr id="3" name="Content Placeholder 2"/>
          <p:cNvSpPr>
            <a:spLocks noGrp="1"/>
          </p:cNvSpPr>
          <p:nvPr>
            <p:ph idx="1"/>
          </p:nvPr>
        </p:nvSpPr>
        <p:spPr/>
        <p:txBody>
          <a:bodyPr/>
          <a:lstStyle/>
          <a:p>
            <a:pPr>
              <a:buFont typeface="Wingdings" pitchFamily="2" charset="2"/>
              <a:buChar char="Ø"/>
            </a:pPr>
            <a:r>
              <a:rPr lang="en-US" dirty="0"/>
              <a:t>What is an AI agent? </a:t>
            </a:r>
            <a:r>
              <a:rPr lang="en-US" altLang="zh-CN" dirty="0"/>
              <a:t>The</a:t>
            </a:r>
            <a:r>
              <a:rPr lang="zh-CN" altLang="en-US" dirty="0"/>
              <a:t> </a:t>
            </a:r>
            <a:r>
              <a:rPr lang="en-US" altLang="zh-CN" dirty="0"/>
              <a:t>agent</a:t>
            </a:r>
            <a:r>
              <a:rPr lang="zh-CN" altLang="en-US" dirty="0"/>
              <a:t> </a:t>
            </a:r>
            <a:r>
              <a:rPr lang="en-US" altLang="zh-CN" dirty="0" err="1"/>
              <a:t>p</a:t>
            </a:r>
            <a:r>
              <a:rPr dirty="0" err="1"/>
              <a:t>rceive</a:t>
            </a:r>
            <a:r>
              <a:rPr dirty="0"/>
              <a:t> the environment, make decisions to maximize the chance of success.</a:t>
            </a:r>
          </a:p>
          <a:p>
            <a:pPr>
              <a:buFont typeface="Wingdings" pitchFamily="2" charset="2"/>
              <a:buChar char="Ø"/>
            </a:pPr>
            <a:r>
              <a:rPr dirty="0"/>
              <a:t>The complexity of AI design depends entirely on the nature of the </a:t>
            </a:r>
            <a:r>
              <a:rPr b="1" dirty="0"/>
              <a:t>ENVIRONMENT</a:t>
            </a:r>
            <a:r>
              <a:rPr dirty="0"/>
              <a:t>.</a:t>
            </a:r>
          </a:p>
          <a:p>
            <a:pPr>
              <a:buFont typeface="Wingdings" pitchFamily="2" charset="2"/>
              <a:buChar char="Ø"/>
            </a:pPr>
            <a:r>
              <a:rPr dirty="0"/>
              <a:t>Two basic types of environments:</a:t>
            </a:r>
          </a:p>
          <a:p>
            <a:pPr lvl="2">
              <a:buFont typeface="Wingdings" pitchFamily="2" charset="2"/>
              <a:buChar char="§"/>
            </a:pPr>
            <a:r>
              <a:rPr sz="2000" dirty="0">
                <a:solidFill>
                  <a:srgbClr val="C00000"/>
                </a:solidFill>
              </a:rPr>
              <a:t>Deterministic Environments: </a:t>
            </a:r>
            <a:r>
              <a:rPr sz="2000" dirty="0"/>
              <a:t>The outcome of every action is fully predictable.</a:t>
            </a:r>
          </a:p>
          <a:p>
            <a:pPr lvl="2">
              <a:buFont typeface="Wingdings" pitchFamily="2" charset="2"/>
              <a:buChar char="§"/>
            </a:pPr>
            <a:r>
              <a:rPr sz="2000" dirty="0">
                <a:solidFill>
                  <a:srgbClr val="C00000"/>
                </a:solidFill>
              </a:rPr>
              <a:t>Stochastic Environments: </a:t>
            </a:r>
            <a:r>
              <a:rPr sz="2000" dirty="0"/>
              <a:t>Where uncertainty exists, and the next state depends not just on the agent's action, but also on chance or probabilities.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Part I: </a:t>
            </a:r>
            <a:r>
              <a:rPr lang="en-US" dirty="0"/>
              <a:t>Deterministic Environments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altLang="zh-CN" sz="3200" dirty="0"/>
              <a:t>Knowledge/</a:t>
            </a:r>
            <a:r>
              <a:rPr lang="zh-CN" altLang="en-US" sz="3200" dirty="0"/>
              <a:t> </a:t>
            </a:r>
            <a:r>
              <a:rPr lang="en-US" altLang="zh-CN" sz="3200" dirty="0"/>
              <a:t>Comprehension/</a:t>
            </a:r>
            <a:r>
              <a:rPr lang="zh-CN" altLang="en-US" sz="3200" dirty="0"/>
              <a:t> </a:t>
            </a:r>
            <a:r>
              <a:rPr lang="en-US" altLang="zh-CN" sz="3200" dirty="0"/>
              <a:t>Application</a:t>
            </a:r>
            <a:r>
              <a:rPr lang="zh-CN" altLang="en-US" sz="3200" dirty="0"/>
              <a:t> </a:t>
            </a:r>
            <a:endParaRPr lang="en-US" altLang="zh-CN" sz="3200" dirty="0"/>
          </a:p>
          <a:p>
            <a:pPr>
              <a:buFont typeface="Wingdings" panose="05000000000000000000" pitchFamily="2" charset="2"/>
              <a:buChar char="v"/>
            </a:pPr>
            <a:r>
              <a:rPr lang="en-US" altLang="zh-CN" sz="3200" dirty="0"/>
              <a:t>AI</a:t>
            </a:r>
            <a:r>
              <a:rPr lang="zh-CN" altLang="en-US" sz="3200" dirty="0"/>
              <a:t> </a:t>
            </a:r>
            <a:r>
              <a:rPr lang="en-US" altLang="zh-CN" sz="3200" dirty="0"/>
              <a:t>basics</a:t>
            </a:r>
            <a:r>
              <a:rPr lang="zh-CN" altLang="en-US" sz="3200" dirty="0"/>
              <a:t> </a:t>
            </a:r>
            <a:r>
              <a:rPr lang="en-US" altLang="zh-CN" sz="3200" dirty="0"/>
              <a:t>and problem formulation</a:t>
            </a:r>
          </a:p>
          <a:p>
            <a:pPr>
              <a:buFont typeface="Wingdings" panose="05000000000000000000" pitchFamily="2" charset="2"/>
              <a:buChar char="v"/>
            </a:pPr>
            <a:r>
              <a:rPr lang="en-US" altLang="zh-CN" sz="3200" dirty="0"/>
              <a:t>Search (uninformed, informed)</a:t>
            </a:r>
          </a:p>
          <a:p>
            <a:pPr>
              <a:buFont typeface="Wingdings" panose="05000000000000000000" pitchFamily="2" charset="2"/>
              <a:buChar char="v"/>
            </a:pPr>
            <a:r>
              <a:rPr lang="en-US" altLang="zh-CN" sz="3200" dirty="0"/>
              <a:t>Game</a:t>
            </a:r>
            <a:r>
              <a:rPr lang="zh-CN" altLang="en-US" sz="3200" dirty="0"/>
              <a:t> </a:t>
            </a:r>
            <a:r>
              <a:rPr lang="en-US" altLang="zh-CN" sz="3200" dirty="0"/>
              <a:t>Playing</a:t>
            </a:r>
            <a:r>
              <a:rPr lang="zh-CN" altLang="en-US" sz="3200" dirty="0"/>
              <a:t> </a:t>
            </a:r>
            <a:endParaRPr lang="en-US" altLang="zh-CN" sz="3200" dirty="0"/>
          </a:p>
          <a:p>
            <a:pPr>
              <a:buFont typeface="Wingdings" panose="05000000000000000000" pitchFamily="2" charset="2"/>
              <a:buChar char="v"/>
            </a:pPr>
            <a:endParaRPr lang="en-US" altLang="zh-CN" sz="3200" dirty="0"/>
          </a:p>
          <a:p>
            <a:endParaRPr lang="en-US" altLang="zh-CN" dirty="0"/>
          </a:p>
          <a:p>
            <a:endParaRPr lang="en-US" altLang="zh-CN" dirty="0"/>
          </a:p>
          <a:p>
            <a:endParaRPr lang="en-US" altLang="zh-CN"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AI</a:t>
            </a:r>
            <a:r>
              <a:rPr lang="zh-CN" altLang="en-US" dirty="0">
                <a:solidFill>
                  <a:schemeClr val="tx1"/>
                </a:solidFill>
              </a:rPr>
              <a:t> </a:t>
            </a:r>
            <a:r>
              <a:rPr lang="en-US" altLang="zh-CN" dirty="0">
                <a:solidFill>
                  <a:schemeClr val="tx1"/>
                </a:solidFill>
              </a:rPr>
              <a:t>Basics</a:t>
            </a:r>
            <a:endParaRPr lang="en-US" dirty="0">
              <a:solidFill>
                <a:schemeClr val="tx1"/>
              </a:solidFill>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altLang="zh-CN" sz="3200" dirty="0"/>
              <a:t>History</a:t>
            </a:r>
            <a:r>
              <a:rPr lang="zh-CN" altLang="en-US" sz="3200" dirty="0"/>
              <a:t> </a:t>
            </a:r>
            <a:r>
              <a:rPr lang="en-US" altLang="zh-CN" sz="3200" dirty="0"/>
              <a:t>of</a:t>
            </a:r>
            <a:r>
              <a:rPr lang="zh-CN" altLang="en-US" sz="3200" dirty="0"/>
              <a:t> </a:t>
            </a:r>
            <a:r>
              <a:rPr lang="en-US" altLang="zh-CN" sz="3200" dirty="0"/>
              <a:t>AI, definition of AI</a:t>
            </a:r>
          </a:p>
          <a:p>
            <a:pPr>
              <a:buFont typeface="Wingdings" panose="05000000000000000000" pitchFamily="2" charset="2"/>
              <a:buChar char="v"/>
            </a:pPr>
            <a:r>
              <a:rPr lang="en-US" altLang="zh-CN" sz="3200" dirty="0"/>
              <a:t>Strong</a:t>
            </a:r>
            <a:r>
              <a:rPr lang="zh-CN" altLang="en-US" sz="3200" dirty="0"/>
              <a:t> </a:t>
            </a:r>
            <a:r>
              <a:rPr lang="en-US" altLang="zh-CN" sz="3200" dirty="0"/>
              <a:t>AI</a:t>
            </a:r>
            <a:r>
              <a:rPr lang="zh-CN" altLang="en-US" sz="3200" dirty="0"/>
              <a:t> </a:t>
            </a:r>
            <a:r>
              <a:rPr lang="en-US" altLang="zh-CN" sz="3200" dirty="0"/>
              <a:t>/Weak</a:t>
            </a:r>
            <a:r>
              <a:rPr lang="zh-CN" altLang="en-US" sz="3200" dirty="0"/>
              <a:t> </a:t>
            </a:r>
            <a:r>
              <a:rPr lang="en-US" altLang="zh-CN" sz="3200" dirty="0"/>
              <a:t>AI</a:t>
            </a:r>
          </a:p>
          <a:p>
            <a:pPr>
              <a:buFont typeface="Wingdings" panose="05000000000000000000" pitchFamily="2" charset="2"/>
              <a:buChar char="v"/>
            </a:pPr>
            <a:r>
              <a:rPr lang="en-US" altLang="zh-CN" sz="3200" dirty="0"/>
              <a:t>Turing</a:t>
            </a:r>
            <a:r>
              <a:rPr lang="zh-CN" altLang="en-US" sz="3200" dirty="0"/>
              <a:t> </a:t>
            </a:r>
            <a:r>
              <a:rPr lang="en-US" altLang="zh-CN" sz="3200" dirty="0"/>
              <a:t>Test</a:t>
            </a:r>
            <a:r>
              <a:rPr lang="zh-CN" altLang="en-US" sz="3200" dirty="0"/>
              <a:t> </a:t>
            </a:r>
            <a:r>
              <a:rPr lang="en-US" altLang="zh-CN" sz="3200" dirty="0"/>
              <a:t>&amp;</a:t>
            </a:r>
            <a:r>
              <a:rPr lang="zh-CN" altLang="en-US" sz="3200" dirty="0"/>
              <a:t> </a:t>
            </a:r>
            <a:r>
              <a:rPr lang="en-US" altLang="zh-CN" sz="3200" dirty="0"/>
              <a:t>Chinese</a:t>
            </a:r>
            <a:r>
              <a:rPr lang="zh-CN" altLang="en-US" sz="3200" dirty="0"/>
              <a:t> </a:t>
            </a:r>
            <a:r>
              <a:rPr lang="en-US" altLang="zh-CN" sz="3200" dirty="0"/>
              <a:t>Room</a:t>
            </a:r>
          </a:p>
          <a:p>
            <a:pPr>
              <a:buFont typeface="Wingdings" panose="05000000000000000000" pitchFamily="2" charset="2"/>
              <a:buChar char="v"/>
            </a:pPr>
            <a:r>
              <a:rPr lang="en-US" altLang="zh-CN" sz="3200" dirty="0"/>
              <a:t>Basics in machine learning</a:t>
            </a:r>
          </a:p>
          <a:p>
            <a:pPr>
              <a:buFont typeface="Wingdings" panose="05000000000000000000" pitchFamily="2" charset="2"/>
              <a:buChar char="v"/>
            </a:pPr>
            <a:endParaRPr lang="en-US" altLang="zh-CN" sz="3200" dirty="0">
              <a:solidFill>
                <a:srgbClr val="0070C0"/>
              </a:solidFill>
            </a:endParaRPr>
          </a:p>
          <a:p>
            <a:r>
              <a:rPr lang="zh-CN" altLang="en-US" dirty="0"/>
              <a:t> </a:t>
            </a:r>
            <a:endParaRPr lang="en-US" altLang="zh-CN"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a:t>
            </a:r>
            <a:r>
              <a:rPr lang="zh-CN" altLang="en-US" dirty="0"/>
              <a:t> </a:t>
            </a:r>
            <a:r>
              <a:rPr lang="en-US" altLang="zh-CN" dirty="0"/>
              <a:t>Questions</a:t>
            </a:r>
            <a:endParaRPr lang="en-US" dirty="0"/>
          </a:p>
        </p:txBody>
      </p:sp>
      <p:sp>
        <p:nvSpPr>
          <p:cNvPr id="3" name="Content Placeholder 2"/>
          <p:cNvSpPr>
            <a:spLocks noGrp="1"/>
          </p:cNvSpPr>
          <p:nvPr>
            <p:ph idx="1"/>
          </p:nvPr>
        </p:nvSpPr>
        <p:spPr/>
        <p:txBody>
          <a:bodyPr/>
          <a:lstStyle/>
          <a:p>
            <a:r>
              <a:rPr lang="en-US" altLang="zh-CN" dirty="0">
                <a:solidFill>
                  <a:srgbClr val="FF0000"/>
                </a:solidFill>
              </a:rPr>
              <a:t>[Comprehension]</a:t>
            </a:r>
            <a:r>
              <a:rPr lang="zh-CN" altLang="en-US" dirty="0">
                <a:solidFill>
                  <a:srgbClr val="FF0000"/>
                </a:solidFill>
              </a:rPr>
              <a:t> </a:t>
            </a:r>
            <a:r>
              <a:rPr lang="en-US" altLang="zh-CN" dirty="0"/>
              <a:t>Briefly</a:t>
            </a:r>
            <a:r>
              <a:rPr lang="zh-CN" altLang="en-US" dirty="0"/>
              <a:t> </a:t>
            </a:r>
            <a:r>
              <a:rPr lang="en-US" altLang="zh-CN" dirty="0"/>
              <a:t>describe</a:t>
            </a:r>
            <a:r>
              <a:rPr lang="zh-CN" altLang="en-US" dirty="0"/>
              <a:t> </a:t>
            </a:r>
            <a:r>
              <a:rPr lang="en-US" altLang="zh-CN" dirty="0"/>
              <a:t>the</a:t>
            </a:r>
            <a:r>
              <a:rPr lang="zh-CN" altLang="en-US" dirty="0"/>
              <a:t> </a:t>
            </a:r>
            <a:r>
              <a:rPr lang="en-US" altLang="zh-CN" dirty="0"/>
              <a:t>Turing</a:t>
            </a:r>
            <a:r>
              <a:rPr lang="zh-CN" altLang="en-US" dirty="0"/>
              <a:t> </a:t>
            </a:r>
            <a:r>
              <a:rPr lang="en-US" altLang="zh-CN" dirty="0"/>
              <a:t>test</a:t>
            </a:r>
            <a:r>
              <a:rPr lang="zh-CN" altLang="en-US" dirty="0"/>
              <a:t> </a:t>
            </a:r>
            <a:r>
              <a:rPr lang="en-US" altLang="zh-CN" dirty="0"/>
              <a:t>and</a:t>
            </a:r>
            <a:r>
              <a:rPr lang="zh-CN" altLang="en-US" dirty="0"/>
              <a:t> </a:t>
            </a:r>
            <a:r>
              <a:rPr lang="en-US" altLang="zh-CN" dirty="0"/>
              <a:t>its</a:t>
            </a:r>
            <a:r>
              <a:rPr lang="zh-CN" altLang="en-US" dirty="0"/>
              <a:t> </a:t>
            </a:r>
            <a:r>
              <a:rPr lang="en-US" altLang="zh-CN" dirty="0"/>
              <a:t>objectives.</a:t>
            </a:r>
            <a:r>
              <a:rPr lang="zh-CN" altLang="en-US" dirty="0"/>
              <a:t> </a:t>
            </a:r>
            <a:r>
              <a:rPr lang="en-US" altLang="zh-CN" dirty="0"/>
              <a:t>Provide</a:t>
            </a:r>
            <a:r>
              <a:rPr lang="zh-CN" altLang="en-US" dirty="0"/>
              <a:t> </a:t>
            </a:r>
            <a:r>
              <a:rPr lang="en-US" altLang="zh-CN" dirty="0"/>
              <a:t>an</a:t>
            </a:r>
            <a:r>
              <a:rPr lang="zh-CN" altLang="en-US" dirty="0"/>
              <a:t> </a:t>
            </a:r>
            <a:r>
              <a:rPr lang="en-US" altLang="zh-CN" dirty="0"/>
              <a:t>example</a:t>
            </a:r>
            <a:r>
              <a:rPr lang="zh-CN" altLang="en-US" dirty="0"/>
              <a:t> </a:t>
            </a:r>
            <a:r>
              <a:rPr lang="en-US" altLang="zh-CN" dirty="0"/>
              <a:t>of</a:t>
            </a:r>
            <a:r>
              <a:rPr lang="zh-CN" altLang="en-US" dirty="0"/>
              <a:t> </a:t>
            </a:r>
            <a:r>
              <a:rPr lang="en-US" altLang="zh-CN" dirty="0"/>
              <a:t>a</a:t>
            </a:r>
            <a:r>
              <a:rPr lang="zh-CN" altLang="en-US" dirty="0"/>
              <a:t> </a:t>
            </a:r>
            <a:r>
              <a:rPr lang="en-US" altLang="zh-CN" dirty="0"/>
              <a:t>Turing</a:t>
            </a:r>
            <a:r>
              <a:rPr lang="zh-CN" altLang="en-US" dirty="0"/>
              <a:t> </a:t>
            </a:r>
            <a:r>
              <a:rPr lang="en-US" altLang="zh-CN" dirty="0"/>
              <a:t>Test</a:t>
            </a:r>
            <a:r>
              <a:rPr lang="zh-CN" altLang="en-US" dirty="0"/>
              <a:t> </a:t>
            </a:r>
            <a:r>
              <a:rPr lang="en-US" altLang="zh-CN" dirty="0"/>
              <a:t>in</a:t>
            </a:r>
            <a:r>
              <a:rPr lang="zh-CN" altLang="en-US" dirty="0"/>
              <a:t> </a:t>
            </a:r>
            <a:r>
              <a:rPr lang="en-US" altLang="zh-CN" dirty="0"/>
              <a:t>real</a:t>
            </a:r>
            <a:r>
              <a:rPr lang="zh-CN" altLang="en-US" dirty="0"/>
              <a:t> </a:t>
            </a:r>
            <a:r>
              <a:rPr lang="en-US" altLang="zh-CN" dirty="0"/>
              <a:t>life.</a:t>
            </a:r>
            <a:r>
              <a:rPr lang="zh-CN" altLang="en-US" dirty="0"/>
              <a:t> </a:t>
            </a:r>
            <a:r>
              <a:rPr lang="en-US" altLang="zh-CN" dirty="0"/>
              <a:t>Criticize</a:t>
            </a:r>
            <a:r>
              <a:rPr lang="zh-CN" altLang="en-US" dirty="0"/>
              <a:t> </a:t>
            </a:r>
            <a:r>
              <a:rPr lang="en-US" altLang="zh-CN" dirty="0"/>
              <a:t>Turing</a:t>
            </a:r>
            <a:r>
              <a:rPr lang="zh-CN" altLang="en-US" dirty="0"/>
              <a:t> </a:t>
            </a:r>
            <a:r>
              <a:rPr lang="en-US" altLang="zh-CN" dirty="0"/>
              <a:t>test</a:t>
            </a:r>
            <a:r>
              <a:rPr lang="zh-CN" altLang="en-US" dirty="0"/>
              <a:t> </a:t>
            </a:r>
            <a:r>
              <a:rPr lang="en-US" altLang="zh-CN" dirty="0"/>
              <a:t>by</a:t>
            </a:r>
            <a:r>
              <a:rPr lang="zh-CN" altLang="en-US" dirty="0"/>
              <a:t> </a:t>
            </a:r>
            <a:r>
              <a:rPr lang="en-US" altLang="zh-CN" dirty="0"/>
              <a:t>providing</a:t>
            </a:r>
            <a:r>
              <a:rPr lang="zh-CN" altLang="en-US" dirty="0"/>
              <a:t> </a:t>
            </a:r>
            <a:r>
              <a:rPr lang="en-US" altLang="zh-CN" dirty="0"/>
              <a:t>an</a:t>
            </a:r>
            <a:r>
              <a:rPr lang="zh-CN" altLang="en-US" dirty="0"/>
              <a:t> </a:t>
            </a:r>
            <a:r>
              <a:rPr lang="en-US" altLang="zh-CN" dirty="0"/>
              <a:t>example</a:t>
            </a:r>
            <a:r>
              <a:rPr lang="zh-CN" altLang="en-US" dirty="0"/>
              <a:t> </a:t>
            </a:r>
            <a:r>
              <a:rPr lang="en-US" altLang="zh-CN" dirty="0"/>
              <a:t>of</a:t>
            </a:r>
            <a:r>
              <a:rPr lang="zh-CN" altLang="en-US" dirty="0"/>
              <a:t> </a:t>
            </a:r>
            <a:r>
              <a:rPr lang="en-US" altLang="zh-CN" dirty="0"/>
              <a:t>objection.</a:t>
            </a:r>
            <a:r>
              <a:rPr lang="zh-CN" altLang="en-US" dirty="0"/>
              <a:t>                                                                                                </a:t>
            </a:r>
            <a:r>
              <a:rPr lang="en-US" altLang="zh-CN" dirty="0"/>
              <a:t>[7</a:t>
            </a:r>
            <a:r>
              <a:rPr lang="zh-CN" altLang="en-US" dirty="0"/>
              <a:t> </a:t>
            </a:r>
            <a:r>
              <a:rPr lang="en-US" altLang="zh-CN" dirty="0"/>
              <a:t>Marks]</a:t>
            </a:r>
            <a:endParaRPr lang="en-US" dirty="0"/>
          </a:p>
          <a:p>
            <a:endParaRPr lang="en-US" altLang="zh-CN" dirty="0">
              <a:solidFill>
                <a:srgbClr val="FF0000"/>
              </a:solidFill>
            </a:endParaRPr>
          </a:p>
          <a:p>
            <a:r>
              <a:rPr lang="en-US" altLang="zh-CN" dirty="0">
                <a:solidFill>
                  <a:srgbClr val="FF0000"/>
                </a:solidFill>
              </a:rPr>
              <a:t>[Knowledge]</a:t>
            </a:r>
            <a:r>
              <a:rPr lang="zh-CN" altLang="en-US" dirty="0">
                <a:solidFill>
                  <a:srgbClr val="FF0000"/>
                </a:solidFill>
              </a:rPr>
              <a:t> </a:t>
            </a:r>
            <a:r>
              <a:rPr lang="en-US" altLang="zh-CN" dirty="0"/>
              <a:t>In</a:t>
            </a:r>
            <a:r>
              <a:rPr lang="zh-CN" altLang="en-US" dirty="0"/>
              <a:t> </a:t>
            </a:r>
            <a:r>
              <a:rPr lang="en-US" altLang="zh-CN" dirty="0"/>
              <a:t>data</a:t>
            </a:r>
            <a:r>
              <a:rPr lang="zh-CN" altLang="en-US" dirty="0"/>
              <a:t> </a:t>
            </a:r>
            <a:r>
              <a:rPr lang="en-US" altLang="zh-CN" dirty="0"/>
              <a:t>mining,</a:t>
            </a:r>
            <a:r>
              <a:rPr lang="zh-CN" altLang="en-US" dirty="0"/>
              <a:t> </a:t>
            </a:r>
            <a:r>
              <a:rPr lang="en-US" altLang="zh-CN" dirty="0"/>
              <a:t>what</a:t>
            </a:r>
            <a:r>
              <a:rPr lang="zh-CN" altLang="en-US" dirty="0"/>
              <a:t> </a:t>
            </a:r>
            <a:r>
              <a:rPr lang="en-US" altLang="zh-CN" dirty="0"/>
              <a:t>are</a:t>
            </a:r>
            <a:r>
              <a:rPr lang="zh-CN" altLang="en-US" dirty="0"/>
              <a:t> </a:t>
            </a:r>
            <a:r>
              <a:rPr lang="en-US" altLang="zh-CN" dirty="0"/>
              <a:t>the</a:t>
            </a:r>
            <a:r>
              <a:rPr lang="zh-CN" altLang="en-US" dirty="0"/>
              <a:t> </a:t>
            </a:r>
            <a:r>
              <a:rPr lang="en-US" altLang="zh-CN" dirty="0"/>
              <a:t>relationships</a:t>
            </a:r>
            <a:r>
              <a:rPr lang="zh-CN" altLang="en-US" dirty="0"/>
              <a:t> </a:t>
            </a:r>
            <a:r>
              <a:rPr lang="en-US" altLang="zh-CN" dirty="0"/>
              <a:t>and</a:t>
            </a:r>
            <a:r>
              <a:rPr lang="zh-CN" altLang="en-US" dirty="0"/>
              <a:t> </a:t>
            </a:r>
            <a:r>
              <a:rPr lang="en-US" altLang="zh-CN" dirty="0"/>
              <a:t>difference</a:t>
            </a:r>
            <a:r>
              <a:rPr lang="zh-CN" altLang="en-US" dirty="0"/>
              <a:t> </a:t>
            </a:r>
            <a:r>
              <a:rPr lang="en-US" altLang="zh-CN" dirty="0"/>
              <a:t>between</a:t>
            </a:r>
            <a:r>
              <a:rPr lang="zh-CN" altLang="en-US" dirty="0"/>
              <a:t> </a:t>
            </a:r>
            <a:r>
              <a:rPr lang="en-US" altLang="zh-CN" dirty="0"/>
              <a:t>clustering</a:t>
            </a:r>
            <a:r>
              <a:rPr lang="zh-CN" altLang="en-US" dirty="0"/>
              <a:t> </a:t>
            </a:r>
            <a:r>
              <a:rPr lang="en-US" altLang="zh-CN" dirty="0"/>
              <a:t>and</a:t>
            </a:r>
            <a:r>
              <a:rPr lang="zh-CN" altLang="en-US" dirty="0"/>
              <a:t> </a:t>
            </a:r>
            <a:r>
              <a:rPr lang="en-US" altLang="zh-CN" dirty="0"/>
              <a:t>classification?</a:t>
            </a:r>
            <a:r>
              <a:rPr lang="zh-CN" altLang="en-US" dirty="0"/>
              <a:t>                                                                     </a:t>
            </a:r>
            <a:r>
              <a:rPr lang="en-US" altLang="zh-CN" dirty="0"/>
              <a:t>[5</a:t>
            </a:r>
            <a:r>
              <a:rPr lang="zh-CN" altLang="en-US" dirty="0"/>
              <a:t> </a:t>
            </a:r>
            <a:r>
              <a:rPr lang="en-US" altLang="zh-CN" dirty="0"/>
              <a:t>Marks]</a:t>
            </a:r>
            <a:endParaRPr lang="en-US" dirty="0"/>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problem</a:t>
            </a:r>
            <a:r>
              <a:rPr lang="zh-CN" altLang="en-US" dirty="0">
                <a:solidFill>
                  <a:schemeClr val="tx1"/>
                </a:solidFill>
              </a:rPr>
              <a:t> </a:t>
            </a:r>
            <a:r>
              <a:rPr lang="en-US" altLang="zh-CN" dirty="0">
                <a:solidFill>
                  <a:schemeClr val="tx1"/>
                </a:solidFill>
              </a:rPr>
              <a:t>FOMULATION</a:t>
            </a:r>
            <a:r>
              <a:rPr lang="zh-CN" altLang="en-US" dirty="0">
                <a:solidFill>
                  <a:schemeClr val="tx1"/>
                </a:solidFill>
              </a:rPr>
              <a:t> </a:t>
            </a:r>
            <a:r>
              <a:rPr lang="en-US" altLang="zh-CN" dirty="0">
                <a:solidFill>
                  <a:schemeClr val="tx1"/>
                </a:solidFill>
              </a:rPr>
              <a:t>&amp;</a:t>
            </a:r>
            <a:r>
              <a:rPr lang="zh-CN" altLang="en-US" dirty="0">
                <a:solidFill>
                  <a:schemeClr val="tx1"/>
                </a:solidFill>
              </a:rPr>
              <a:t> </a:t>
            </a:r>
            <a:r>
              <a:rPr lang="en-US" altLang="zh-CN" dirty="0">
                <a:solidFill>
                  <a:schemeClr val="tx1"/>
                </a:solidFill>
              </a:rPr>
              <a:t>search</a:t>
            </a:r>
            <a:r>
              <a:rPr lang="zh-CN" altLang="en-US" dirty="0">
                <a:solidFill>
                  <a:schemeClr val="tx1"/>
                </a:solidFill>
              </a:rPr>
              <a:t> </a:t>
            </a:r>
            <a:r>
              <a:rPr lang="en-US" altLang="zh-CN" dirty="0">
                <a:solidFill>
                  <a:schemeClr val="tx1"/>
                </a:solidFill>
              </a:rPr>
              <a:t>tree</a:t>
            </a:r>
            <a:endParaRPr lang="en-US" dirty="0">
              <a:solidFill>
                <a:schemeClr val="tx1"/>
              </a:solidFill>
            </a:endParaRPr>
          </a:p>
        </p:txBody>
      </p:sp>
      <p:sp>
        <p:nvSpPr>
          <p:cNvPr id="3" name="Content Placeholder 2"/>
          <p:cNvSpPr>
            <a:spLocks noGrp="1"/>
          </p:cNvSpPr>
          <p:nvPr>
            <p:ph idx="1"/>
          </p:nvPr>
        </p:nvSpPr>
        <p:spPr>
          <a:xfrm>
            <a:off x="1024128" y="2286000"/>
            <a:ext cx="10847306" cy="4023360"/>
          </a:xfrm>
        </p:spPr>
        <p:txBody>
          <a:bodyPr>
            <a:normAutofit/>
          </a:bodyPr>
          <a:lstStyle/>
          <a:p>
            <a:pPr>
              <a:buFont typeface="Wingdings" panose="05000000000000000000" pitchFamily="2" charset="2"/>
              <a:buChar char="v"/>
            </a:pPr>
            <a:r>
              <a:rPr lang="en-US" altLang="zh-CN" sz="2400" dirty="0"/>
              <a:t>State</a:t>
            </a:r>
            <a:r>
              <a:rPr lang="zh-CN" altLang="en-US" sz="2400" dirty="0"/>
              <a:t> </a:t>
            </a:r>
            <a:r>
              <a:rPr lang="en-US" altLang="zh-CN" sz="2400" dirty="0"/>
              <a:t>Space</a:t>
            </a:r>
          </a:p>
          <a:p>
            <a:pPr>
              <a:buFont typeface="Wingdings" panose="05000000000000000000" pitchFamily="2" charset="2"/>
              <a:buChar char="v"/>
            </a:pPr>
            <a:r>
              <a:rPr lang="en-US" altLang="zh-CN" sz="2400" dirty="0"/>
              <a:t>Manage</a:t>
            </a:r>
            <a:r>
              <a:rPr lang="zh-CN" altLang="en-US" sz="2400" dirty="0"/>
              <a:t> </a:t>
            </a:r>
            <a:r>
              <a:rPr lang="en-US" altLang="zh-CN" sz="2400" dirty="0"/>
              <a:t>a</a:t>
            </a:r>
            <a:r>
              <a:rPr lang="zh-CN" altLang="en-US" sz="2400" dirty="0"/>
              <a:t> </a:t>
            </a:r>
            <a:r>
              <a:rPr lang="en-US" altLang="zh-CN" sz="2400" dirty="0"/>
              <a:t>search</a:t>
            </a:r>
            <a:r>
              <a:rPr lang="zh-CN" altLang="en-US" sz="2400" dirty="0"/>
              <a:t> </a:t>
            </a:r>
            <a:r>
              <a:rPr lang="en-US" altLang="zh-CN" sz="2400" dirty="0"/>
              <a:t>tree</a:t>
            </a:r>
            <a:r>
              <a:rPr lang="zh-CN" altLang="en-US" sz="2400" dirty="0"/>
              <a:t> </a:t>
            </a:r>
            <a:r>
              <a:rPr lang="en-US" altLang="zh-CN" sz="2400" dirty="0"/>
              <a:t>to</a:t>
            </a:r>
            <a:r>
              <a:rPr lang="zh-CN" altLang="en-US" sz="2400" dirty="0"/>
              <a:t> </a:t>
            </a:r>
            <a:r>
              <a:rPr lang="en-US" altLang="zh-CN" sz="2400" dirty="0"/>
              <a:t>define</a:t>
            </a:r>
            <a:r>
              <a:rPr lang="zh-CN" altLang="en-US" sz="2400" dirty="0"/>
              <a:t> </a:t>
            </a:r>
            <a:r>
              <a:rPr lang="en-US" altLang="zh-CN" sz="2400" dirty="0"/>
              <a:t>a</a:t>
            </a:r>
            <a:r>
              <a:rPr lang="zh-CN" altLang="en-US" sz="2400" dirty="0"/>
              <a:t> </a:t>
            </a:r>
            <a:r>
              <a:rPr lang="en-US" altLang="zh-CN" sz="2400" dirty="0"/>
              <a:t>search</a:t>
            </a:r>
            <a:r>
              <a:rPr lang="zh-CN" altLang="en-US" sz="2400" dirty="0"/>
              <a:t> </a:t>
            </a:r>
            <a:r>
              <a:rPr lang="en-US" altLang="zh-CN" sz="2400" dirty="0"/>
              <a:t>problem</a:t>
            </a:r>
          </a:p>
          <a:p>
            <a:pPr>
              <a:buFont typeface="Wingdings" panose="05000000000000000000" pitchFamily="2" charset="2"/>
              <a:buChar char="v"/>
            </a:pPr>
            <a:r>
              <a:rPr lang="en-US" altLang="zh-CN" sz="2400" dirty="0"/>
              <a:t>Evaluation</a:t>
            </a:r>
            <a:r>
              <a:rPr lang="zh-CN" altLang="en-US" sz="2400" dirty="0"/>
              <a:t> </a:t>
            </a:r>
            <a:r>
              <a:rPr lang="en-US" altLang="zh-CN" sz="2400" dirty="0"/>
              <a:t>criteria</a:t>
            </a:r>
            <a:r>
              <a:rPr lang="zh-CN" altLang="en-US" sz="2400" dirty="0"/>
              <a:t> </a:t>
            </a:r>
            <a:r>
              <a:rPr lang="en-US" altLang="zh-CN" sz="2400" dirty="0"/>
              <a:t>(Completeness,</a:t>
            </a:r>
            <a:r>
              <a:rPr lang="zh-CN" altLang="en-US" sz="2400" dirty="0"/>
              <a:t> </a:t>
            </a:r>
            <a:r>
              <a:rPr lang="en-US" altLang="zh-CN" sz="2400" dirty="0"/>
              <a:t>Time</a:t>
            </a:r>
            <a:r>
              <a:rPr lang="zh-CN" altLang="en-US" sz="2400" dirty="0"/>
              <a:t> </a:t>
            </a:r>
            <a:r>
              <a:rPr lang="en-US" altLang="zh-CN" sz="2400" dirty="0"/>
              <a:t>Complexity,</a:t>
            </a:r>
            <a:r>
              <a:rPr lang="zh-CN" altLang="en-US" sz="2400" dirty="0"/>
              <a:t> </a:t>
            </a:r>
            <a:r>
              <a:rPr lang="en-US" altLang="zh-CN" sz="2400" dirty="0"/>
              <a:t>Space</a:t>
            </a:r>
            <a:r>
              <a:rPr lang="zh-CN" altLang="en-US" sz="2400" dirty="0"/>
              <a:t> </a:t>
            </a:r>
            <a:r>
              <a:rPr lang="en-US" altLang="zh-CN" sz="2400" dirty="0"/>
              <a:t>Complexity,</a:t>
            </a:r>
            <a:r>
              <a:rPr lang="en-GB" sz="2800" dirty="0"/>
              <a:t> Optimality</a:t>
            </a:r>
            <a:r>
              <a:rPr lang="en-US" altLang="zh-CN" sz="2400" dirty="0"/>
              <a:t>)</a:t>
            </a:r>
          </a:p>
          <a:p>
            <a:pPr>
              <a:buFont typeface="Wingdings" panose="05000000000000000000" pitchFamily="2" charset="2"/>
              <a:buChar char="v"/>
            </a:pPr>
            <a:r>
              <a:rPr lang="en-US" altLang="zh-CN" sz="2400" dirty="0"/>
              <a:t>BFS,</a:t>
            </a:r>
            <a:r>
              <a:rPr lang="zh-CN" altLang="en-US" sz="2400" dirty="0"/>
              <a:t> </a:t>
            </a:r>
            <a:r>
              <a:rPr lang="en-US" altLang="zh-CN" sz="2400" dirty="0"/>
              <a:t>DFS,</a:t>
            </a:r>
            <a:r>
              <a:rPr lang="zh-CN" altLang="en-US" sz="2400" dirty="0"/>
              <a:t> </a:t>
            </a:r>
            <a:r>
              <a:rPr lang="en-US" altLang="zh-CN" sz="2400" dirty="0"/>
              <a:t>UCS,</a:t>
            </a:r>
            <a:r>
              <a:rPr lang="zh-CN" altLang="en-US" sz="2400" dirty="0"/>
              <a:t> </a:t>
            </a:r>
            <a:r>
              <a:rPr lang="en-US" altLang="zh-CN" sz="2400" dirty="0"/>
              <a:t>Greedy</a:t>
            </a:r>
            <a:r>
              <a:rPr lang="zh-CN" altLang="en-US" sz="2400" dirty="0"/>
              <a:t> </a:t>
            </a:r>
            <a:r>
              <a:rPr lang="en-US" altLang="zh-CN" sz="2400" dirty="0"/>
              <a:t>Search,</a:t>
            </a:r>
            <a:r>
              <a:rPr lang="zh-CN" altLang="en-US" sz="2400" dirty="0"/>
              <a:t> </a:t>
            </a:r>
            <a:r>
              <a:rPr lang="en-US" altLang="zh-CN" sz="2400" dirty="0"/>
              <a:t>A</a:t>
            </a:r>
            <a:r>
              <a:rPr lang="zh-CN" altLang="en-US" sz="2400" dirty="0"/>
              <a:t>* </a:t>
            </a:r>
            <a:r>
              <a:rPr lang="en-US" altLang="zh-CN" sz="2400" dirty="0"/>
              <a:t>Search</a:t>
            </a:r>
          </a:p>
          <a:p>
            <a:pPr>
              <a:buFont typeface="Wingdings" panose="05000000000000000000" pitchFamily="2" charset="2"/>
              <a:buChar char="v"/>
            </a:pPr>
            <a:r>
              <a:rPr lang="en-US" altLang="zh-CN" sz="2400" dirty="0"/>
              <a:t>Heuristic</a:t>
            </a:r>
            <a:r>
              <a:rPr lang="zh-CN" altLang="en-US" sz="2400" dirty="0"/>
              <a:t> </a:t>
            </a:r>
            <a:r>
              <a:rPr lang="en-US" altLang="zh-CN" sz="2400" dirty="0"/>
              <a:t>function,</a:t>
            </a:r>
            <a:r>
              <a:rPr lang="zh-CN" altLang="en-US" sz="2400" dirty="0"/>
              <a:t> </a:t>
            </a:r>
            <a:r>
              <a:rPr lang="en-US" altLang="zh-CN" sz="2400" dirty="0"/>
              <a:t>Admissible,</a:t>
            </a:r>
            <a:r>
              <a:rPr lang="zh-CN" altLang="en-US" sz="2400" dirty="0"/>
              <a:t> </a:t>
            </a:r>
            <a:r>
              <a:rPr lang="en-US" altLang="zh-CN" sz="2400" dirty="0"/>
              <a:t>Informedness,</a:t>
            </a:r>
            <a:r>
              <a:rPr lang="zh-CN" altLang="en-US" sz="2400" dirty="0"/>
              <a:t> </a:t>
            </a:r>
            <a:r>
              <a:rPr lang="en-US" altLang="zh-CN" sz="2400" dirty="0"/>
              <a:t>Effective Branching Factor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a:t>
            </a:r>
            <a:r>
              <a:rPr lang="zh-CN" altLang="en-US" dirty="0"/>
              <a:t> </a:t>
            </a:r>
            <a:r>
              <a:rPr lang="en-US" altLang="zh-CN" dirty="0"/>
              <a:t>Questions</a:t>
            </a:r>
            <a:endParaRPr lang="en-US" dirty="0"/>
          </a:p>
        </p:txBody>
      </p:sp>
      <p:sp>
        <p:nvSpPr>
          <p:cNvPr id="3" name="Content Placeholder 2"/>
          <p:cNvSpPr>
            <a:spLocks noGrp="1"/>
          </p:cNvSpPr>
          <p:nvPr>
            <p:ph idx="1"/>
          </p:nvPr>
        </p:nvSpPr>
        <p:spPr>
          <a:xfrm>
            <a:off x="1024128" y="2286000"/>
            <a:ext cx="10198054" cy="4023360"/>
          </a:xfrm>
        </p:spPr>
        <p:txBody>
          <a:bodyPr>
            <a:normAutofit lnSpcReduction="10000"/>
          </a:bodyPr>
          <a:lstStyle/>
          <a:p>
            <a:r>
              <a:rPr lang="en-US" altLang="zh-CN" dirty="0">
                <a:solidFill>
                  <a:srgbClr val="FF0000"/>
                </a:solidFill>
              </a:rPr>
              <a:t>[Knowledge</a:t>
            </a:r>
            <a:r>
              <a:rPr lang="zh-CN" altLang="en-US" dirty="0">
                <a:solidFill>
                  <a:srgbClr val="FF0000"/>
                </a:solidFill>
              </a:rPr>
              <a:t> </a:t>
            </a:r>
            <a:r>
              <a:rPr lang="en-US" altLang="zh-CN" dirty="0">
                <a:solidFill>
                  <a:srgbClr val="FF0000"/>
                </a:solidFill>
              </a:rPr>
              <a:t>and</a:t>
            </a:r>
            <a:r>
              <a:rPr lang="zh-CN" altLang="en-US" dirty="0">
                <a:solidFill>
                  <a:srgbClr val="FF0000"/>
                </a:solidFill>
              </a:rPr>
              <a:t> </a:t>
            </a:r>
            <a:r>
              <a:rPr lang="en-US" altLang="zh-CN" dirty="0">
                <a:solidFill>
                  <a:srgbClr val="FF0000"/>
                </a:solidFill>
              </a:rPr>
              <a:t>Comprehension]</a:t>
            </a:r>
            <a:r>
              <a:rPr lang="zh-CN" altLang="en-US" dirty="0">
                <a:solidFill>
                  <a:srgbClr val="FF0000"/>
                </a:solidFill>
              </a:rPr>
              <a:t> </a:t>
            </a:r>
            <a:r>
              <a:rPr lang="en-US" dirty="0"/>
              <a:t>What does admissible mean? Why is it important that the heuristic used be admissible? How to evaluate two heuristic functions if both of them are admissible? </a:t>
            </a:r>
            <a:r>
              <a:rPr lang="zh-CN" altLang="en-US" dirty="0"/>
              <a:t>                                                                          </a:t>
            </a:r>
            <a:r>
              <a:rPr lang="en-US" altLang="zh-CN" dirty="0"/>
              <a:t>[5</a:t>
            </a:r>
            <a:r>
              <a:rPr lang="zh-CN" altLang="en-US" dirty="0"/>
              <a:t> </a:t>
            </a:r>
            <a:r>
              <a:rPr lang="en-US" altLang="zh-CN" dirty="0"/>
              <a:t>Marks]</a:t>
            </a:r>
            <a:endParaRPr lang="en-US" dirty="0"/>
          </a:p>
          <a:p>
            <a:r>
              <a:rPr lang="en-US" altLang="zh-CN" dirty="0">
                <a:solidFill>
                  <a:srgbClr val="FF0000"/>
                </a:solidFill>
              </a:rPr>
              <a:t>[Comprehension</a:t>
            </a:r>
            <a:r>
              <a:rPr lang="zh-CN" altLang="en-US" dirty="0">
                <a:solidFill>
                  <a:srgbClr val="FF0000"/>
                </a:solidFill>
              </a:rPr>
              <a:t> </a:t>
            </a:r>
            <a:r>
              <a:rPr lang="en-US" altLang="zh-CN" dirty="0">
                <a:solidFill>
                  <a:srgbClr val="FF0000"/>
                </a:solidFill>
              </a:rPr>
              <a:t>and</a:t>
            </a:r>
            <a:r>
              <a:rPr lang="zh-CN" altLang="en-US" dirty="0">
                <a:solidFill>
                  <a:srgbClr val="FF0000"/>
                </a:solidFill>
              </a:rPr>
              <a:t> </a:t>
            </a:r>
            <a:r>
              <a:rPr lang="en-US" altLang="zh-CN" dirty="0">
                <a:solidFill>
                  <a:srgbClr val="FF0000"/>
                </a:solidFill>
              </a:rPr>
              <a:t>Application]</a:t>
            </a:r>
            <a:r>
              <a:rPr lang="zh-CN" altLang="en-US" dirty="0">
                <a:solidFill>
                  <a:srgbClr val="FF0000"/>
                </a:solidFill>
              </a:rPr>
              <a:t> </a:t>
            </a:r>
            <a:r>
              <a:rPr lang="en-US" dirty="0"/>
              <a:t>Given the layout of 17 sticks shown in the figure, you are required to remove exactly 5 sticks in such a way that the remaining configuration forms exactly 3 squares. Given two different operators as shown below, calculate the corresponding size of the state space. </a:t>
            </a:r>
            <a:r>
              <a:rPr lang="zh-CN" altLang="en-US" dirty="0"/>
              <a:t>                                   </a:t>
            </a:r>
            <a:r>
              <a:rPr lang="en-US" altLang="zh-CN" dirty="0"/>
              <a:t>[4</a:t>
            </a:r>
            <a:r>
              <a:rPr lang="zh-CN" altLang="en-US" dirty="0"/>
              <a:t> </a:t>
            </a:r>
            <a:r>
              <a:rPr lang="en-US" altLang="zh-CN" dirty="0"/>
              <a:t>Marks]</a:t>
            </a:r>
            <a:r>
              <a:rPr lang="zh-CN" altLang="en-US" dirty="0"/>
              <a:t>                                          </a:t>
            </a:r>
            <a:endParaRPr lang="en-US" dirty="0"/>
          </a:p>
          <a:p>
            <a:r>
              <a:rPr lang="en-US" dirty="0"/>
              <a:t>Operator A: remove five sticks at a time. </a:t>
            </a:r>
            <a:r>
              <a:rPr lang="zh-CN" altLang="en-US" dirty="0"/>
              <a:t> </a:t>
            </a:r>
            <a:endParaRPr lang="en-US" dirty="0"/>
          </a:p>
          <a:p>
            <a:r>
              <a:rPr lang="en-US" dirty="0"/>
              <a:t>Operator B: remove three squares at a time. </a:t>
            </a:r>
          </a:p>
          <a:p>
            <a:r>
              <a:rPr lang="en-US" altLang="zh-CN" i="1" dirty="0"/>
              <a:t>(</a:t>
            </a:r>
            <a:r>
              <a:rPr lang="en-US" i="1" dirty="0"/>
              <a:t>Hint: Calculating the total number of distinct states an agent can possibly reach, regardless of whether those states are goal states.</a:t>
            </a:r>
            <a:r>
              <a:rPr lang="zh-CN" altLang="en-US" i="1" dirty="0"/>
              <a:t>）</a:t>
            </a:r>
            <a:endParaRPr lang="en-US" i="1" dirty="0"/>
          </a:p>
          <a:p>
            <a:endParaRPr lang="en-US" dirty="0"/>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Game</a:t>
            </a:r>
            <a:r>
              <a:rPr lang="zh-CN" altLang="en-US" dirty="0">
                <a:solidFill>
                  <a:schemeClr val="tx1"/>
                </a:solidFill>
              </a:rPr>
              <a:t> </a:t>
            </a:r>
            <a:r>
              <a:rPr lang="en-US" altLang="zh-CN" dirty="0">
                <a:solidFill>
                  <a:schemeClr val="tx1"/>
                </a:solidFill>
              </a:rPr>
              <a:t>play</a:t>
            </a:r>
            <a:r>
              <a:rPr lang="zh-CN" altLang="en-US" dirty="0">
                <a:solidFill>
                  <a:schemeClr val="tx1"/>
                </a:solidFill>
              </a:rPr>
              <a:t> </a:t>
            </a:r>
            <a:endParaRPr lang="en-US" dirty="0">
              <a:solidFill>
                <a:schemeClr val="tx1"/>
              </a:solidFill>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altLang="zh-CN" sz="2800" dirty="0"/>
              <a:t>Components</a:t>
            </a:r>
            <a:r>
              <a:rPr lang="zh-CN" altLang="en-US" sz="2800" dirty="0"/>
              <a:t> </a:t>
            </a:r>
            <a:r>
              <a:rPr lang="en-US" altLang="zh-CN" sz="2800" dirty="0"/>
              <a:t>of</a:t>
            </a:r>
            <a:r>
              <a:rPr lang="zh-CN" altLang="en-US" sz="2800" dirty="0"/>
              <a:t> </a:t>
            </a:r>
            <a:r>
              <a:rPr lang="en-US" altLang="zh-CN" sz="2800" dirty="0"/>
              <a:t>Game</a:t>
            </a:r>
            <a:r>
              <a:rPr lang="zh-CN" altLang="en-US" sz="2800" dirty="0"/>
              <a:t> </a:t>
            </a:r>
            <a:r>
              <a:rPr lang="en-US" altLang="zh-CN" sz="2800" dirty="0"/>
              <a:t>Search</a:t>
            </a:r>
          </a:p>
          <a:p>
            <a:pPr>
              <a:buFont typeface="Wingdings" panose="05000000000000000000" pitchFamily="2" charset="2"/>
              <a:buChar char="v"/>
            </a:pPr>
            <a:r>
              <a:rPr lang="en-US" altLang="zh-CN" sz="2800" dirty="0"/>
              <a:t>How is a game represented as a search problem? </a:t>
            </a:r>
          </a:p>
          <a:p>
            <a:pPr>
              <a:buFont typeface="Wingdings" panose="05000000000000000000" pitchFamily="2" charset="2"/>
              <a:buChar char="v"/>
            </a:pPr>
            <a:r>
              <a:rPr lang="en-US" altLang="zh-CN" sz="2800" dirty="0"/>
              <a:t>Minimax</a:t>
            </a:r>
            <a:r>
              <a:rPr lang="zh-CN" altLang="en-US" sz="2800" dirty="0"/>
              <a:t> </a:t>
            </a:r>
            <a:r>
              <a:rPr lang="en-US" altLang="zh-CN" sz="2800" dirty="0"/>
              <a:t>Algorithm</a:t>
            </a:r>
          </a:p>
          <a:p>
            <a:pPr>
              <a:buFont typeface="Wingdings" panose="05000000000000000000" pitchFamily="2" charset="2"/>
              <a:buChar char="v"/>
            </a:pPr>
            <a:r>
              <a:rPr lang="en-US" sz="2800" dirty="0"/>
              <a:t>Alpha-beta Pruning</a:t>
            </a:r>
          </a:p>
          <a:p>
            <a:pPr>
              <a:buFont typeface="Wingdings" panose="05000000000000000000" pitchFamily="2" charset="2"/>
              <a:buChar char="v"/>
            </a:pPr>
            <a:endParaRPr lang="en-US" sz="2800" dirty="0"/>
          </a:p>
          <a:p>
            <a:pPr>
              <a:buFont typeface="Wingdings" panose="05000000000000000000" pitchFamily="2" charset="2"/>
              <a:buChar char="v"/>
            </a:pPr>
            <a:endParaRPr lang="en-US" sz="2800"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a:t>
            </a:r>
            <a:r>
              <a:rPr lang="zh-CN" altLang="en-US" dirty="0"/>
              <a:t> </a:t>
            </a:r>
            <a:r>
              <a:rPr lang="en-US" altLang="zh-CN" dirty="0"/>
              <a:t>Questions</a:t>
            </a:r>
            <a:endParaRPr lang="en-US" dirty="0"/>
          </a:p>
        </p:txBody>
      </p:sp>
      <p:sp>
        <p:nvSpPr>
          <p:cNvPr id="3" name="Content Placeholder 2"/>
          <p:cNvSpPr>
            <a:spLocks noGrp="1"/>
          </p:cNvSpPr>
          <p:nvPr>
            <p:ph idx="1"/>
          </p:nvPr>
        </p:nvSpPr>
        <p:spPr>
          <a:xfrm>
            <a:off x="1024128" y="1875183"/>
            <a:ext cx="10120950" cy="4023360"/>
          </a:xfrm>
        </p:spPr>
        <p:txBody>
          <a:bodyPr/>
          <a:lstStyle/>
          <a:p>
            <a:r>
              <a:rPr lang="en-US" altLang="zh-CN" dirty="0">
                <a:solidFill>
                  <a:srgbClr val="FF0000"/>
                </a:solidFill>
              </a:rPr>
              <a:t>[Application]</a:t>
            </a:r>
            <a:r>
              <a:rPr lang="zh-CN" altLang="en-US" dirty="0">
                <a:solidFill>
                  <a:srgbClr val="FF0000"/>
                </a:solidFill>
              </a:rPr>
              <a:t> </a:t>
            </a:r>
            <a:r>
              <a:rPr lang="en-US" dirty="0"/>
              <a:t>Given the following search tree, apply the alpha-beta pruning algorithm to it and show the search tree that would be built by this algorithm. Make sure that you show where the alpha and beta cuts are applied and which parts of the search tree are pruned as a result. Explain why the alpha and beta cuts occur. [8 Marks] </a:t>
            </a:r>
          </a:p>
          <a:p>
            <a:endParaRPr lang="en-US" dirty="0"/>
          </a:p>
          <a:p>
            <a:endParaRPr lang="en-US" dirty="0"/>
          </a:p>
        </p:txBody>
      </p:sp>
      <p:pic>
        <p:nvPicPr>
          <p:cNvPr id="4" name="Picture 3"/>
          <p:cNvPicPr>
            <a:picLocks noChangeAspect="1"/>
          </p:cNvPicPr>
          <p:nvPr/>
        </p:nvPicPr>
        <p:blipFill>
          <a:blip r:embed="rId2"/>
          <a:stretch>
            <a:fillRect/>
          </a:stretch>
        </p:blipFill>
        <p:spPr>
          <a:xfrm>
            <a:off x="3202393" y="3199159"/>
            <a:ext cx="5764419" cy="314801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Part II: </a:t>
            </a:r>
            <a:r>
              <a:rPr lang="en-US" dirty="0"/>
              <a:t>Stochastic Environments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altLang="zh-CN" sz="3200" dirty="0"/>
              <a:t>Knowledge/</a:t>
            </a:r>
            <a:r>
              <a:rPr lang="zh-CN" altLang="en-US" sz="3200" dirty="0"/>
              <a:t> </a:t>
            </a:r>
            <a:r>
              <a:rPr lang="en-US" altLang="zh-CN" sz="3200" dirty="0"/>
              <a:t>Comprehension/</a:t>
            </a:r>
            <a:r>
              <a:rPr lang="zh-CN" altLang="en-US" sz="3200" dirty="0"/>
              <a:t> </a:t>
            </a:r>
            <a:r>
              <a:rPr lang="en-US" altLang="zh-CN" sz="3200" dirty="0"/>
              <a:t>Application</a:t>
            </a:r>
            <a:r>
              <a:rPr lang="zh-CN" altLang="en-US" sz="3200" dirty="0"/>
              <a:t> </a:t>
            </a:r>
            <a:endParaRPr lang="en-US" altLang="zh-CN" sz="3200" dirty="0"/>
          </a:p>
          <a:p>
            <a:pPr marL="516890" lvl="1" indent="-342900"/>
            <a:r>
              <a:rPr lang="en-GB" altLang="zh-CN" sz="3200" dirty="0"/>
              <a:t>Supervised learning (Regression and Classification)</a:t>
            </a:r>
          </a:p>
          <a:p>
            <a:pPr marL="516890" lvl="1" indent="-342900"/>
            <a:r>
              <a:rPr lang="en-GB" altLang="zh-CN" sz="3200" dirty="0"/>
              <a:t>Unsupervised learning (Clustering )</a:t>
            </a:r>
          </a:p>
          <a:p>
            <a:pPr marL="516890" lvl="1" indent="-342900"/>
            <a:r>
              <a:rPr lang="en-GB" altLang="zh-CN" sz="3200" dirty="0"/>
              <a:t>Reinforcement learning (MDP</a:t>
            </a:r>
            <a:r>
              <a:rPr lang="zh-CN" altLang="en-US" sz="3200" dirty="0"/>
              <a:t> </a:t>
            </a:r>
            <a:r>
              <a:rPr lang="en-US" altLang="zh-CN" sz="3200" dirty="0"/>
              <a:t>, Q-learning</a:t>
            </a:r>
            <a:r>
              <a:rPr lang="en-GB" altLang="zh-CN" sz="3200" dirty="0"/>
              <a:t>)</a:t>
            </a:r>
            <a:endParaRPr lang="en-US" altLang="zh-CN" sz="3200" dirty="0"/>
          </a:p>
          <a:p>
            <a:endParaRPr lang="en-US" altLang="zh-CN" dirty="0"/>
          </a:p>
          <a:p>
            <a:endParaRPr lang="en-US" altLang="zh-CN" dirty="0"/>
          </a:p>
          <a:p>
            <a:endParaRPr lang="en-US" altLang="zh-CN"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Supervised learning</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en-US" altLang="zh-CN" sz="2400" dirty="0"/>
                  <a:t>Basic concept of supervised learning</a:t>
                </a:r>
              </a:p>
              <a:p>
                <a:r>
                  <a:rPr lang="en-US" altLang="zh-CN" sz="2400" dirty="0"/>
                  <a:t>Type </a:t>
                </a:r>
                <a:r>
                  <a:rPr lang="en-US" altLang="zh-CN" sz="2400"/>
                  <a:t>of Data</a:t>
                </a:r>
                <a:endParaRPr lang="en-US" altLang="zh-CN" sz="2400" dirty="0"/>
              </a:p>
              <a:p>
                <a:r>
                  <a:rPr lang="en-US" altLang="zh-CN" sz="2400" dirty="0"/>
                  <a:t>Concept of regression and classification</a:t>
                </a:r>
              </a:p>
              <a:p>
                <a:r>
                  <a:rPr lang="en-US" altLang="zh-CN" sz="2400" dirty="0"/>
                  <a:t>Basic idea of logistic regression, KNN and naïve bayes</a:t>
                </a:r>
              </a:p>
              <a:p>
                <a:r>
                  <a:rPr lang="en-US" altLang="zh-CN" sz="2400" dirty="0"/>
                  <a:t>Train a neural network (perceptron)</a:t>
                </a:r>
              </a:p>
              <a:p>
                <a:r>
                  <a:rPr lang="en-US" altLang="zh-CN" sz="2400" dirty="0"/>
                  <a:t>How to evaluate model performance (confusion matrix, </a:t>
                </a:r>
                <a14:m>
                  <m:oMath xmlns:m="http://schemas.openxmlformats.org/officeDocument/2006/math">
                    <m:sSup>
                      <m:sSupPr>
                        <m:ctrlPr>
                          <a:rPr lang="en-US" altLang="zh-CN" sz="2400" i="1" smtClean="0">
                            <a:latin typeface="Cambria Math" panose="02040503050406030204" pitchFamily="18" charset="0"/>
                          </a:rPr>
                        </m:ctrlPr>
                      </m:sSupPr>
                      <m:e>
                        <m:r>
                          <m:rPr>
                            <m:sty m:val="p"/>
                          </m:rPr>
                          <a:rPr lang="en-US" altLang="zh-CN" sz="2400" b="0" i="0" smtClean="0">
                            <a:latin typeface="Cambria Math" panose="02040503050406030204" pitchFamily="18" charset="0"/>
                          </a:rPr>
                          <m:t>R</m:t>
                        </m:r>
                      </m:e>
                      <m:sup>
                        <m:r>
                          <a:rPr lang="en-US" altLang="zh-CN" sz="2400" i="1" smtClean="0">
                            <a:latin typeface="Cambria Math" panose="02040503050406030204" pitchFamily="18" charset="0"/>
                          </a:rPr>
                          <m:t>2</m:t>
                        </m:r>
                      </m:sup>
                    </m:sSup>
                  </m:oMath>
                </a14:m>
                <a:r>
                  <a:rPr lang="en-US" altLang="zh-CN" sz="2400" dirty="0"/>
                  <a:t> score)</a:t>
                </a:r>
                <a:endParaRPr lang="en-US" altLang="zh-CN" sz="2000"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02" t="-2121"/>
                </a:stretch>
              </a:blipFill>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UnSupervised</a:t>
            </a:r>
            <a:r>
              <a:rPr lang="en-US" altLang="zh-CN" dirty="0"/>
              <a:t> learning</a:t>
            </a:r>
            <a:endParaRPr lang="zh-CN" altLang="en-US" dirty="0"/>
          </a:p>
        </p:txBody>
      </p:sp>
      <p:sp>
        <p:nvSpPr>
          <p:cNvPr id="3" name="内容占位符 2"/>
          <p:cNvSpPr>
            <a:spLocks noGrp="1"/>
          </p:cNvSpPr>
          <p:nvPr>
            <p:ph idx="1"/>
          </p:nvPr>
        </p:nvSpPr>
        <p:spPr/>
        <p:txBody>
          <a:bodyPr/>
          <a:lstStyle/>
          <a:p>
            <a:r>
              <a:rPr lang="en-US" altLang="zh-CN" dirty="0"/>
              <a:t>Basic concept of Unsupervised learning</a:t>
            </a:r>
          </a:p>
          <a:p>
            <a:r>
              <a:rPr lang="en-US" altLang="zh-CN" dirty="0"/>
              <a:t>Clustering</a:t>
            </a:r>
          </a:p>
          <a:p>
            <a:r>
              <a:rPr lang="en-US" altLang="zh-CN" dirty="0"/>
              <a:t>K-means</a:t>
            </a:r>
          </a:p>
          <a:p>
            <a:r>
              <a:rPr lang="en-US" altLang="zh-CN" dirty="0"/>
              <a:t>PCA (measure feature importance, reduce </a:t>
            </a:r>
            <a:r>
              <a:rPr lang="en-US" dirty="0"/>
              <a:t>dimensionality</a:t>
            </a:r>
            <a:r>
              <a:rPr lang="en-US" altLang="zh-CN" dirty="0"/>
              <a:t>)</a:t>
            </a:r>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Markov Decision Process (MDP)</a:t>
            </a:r>
            <a:endParaRPr kumimoji="1"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A MDP is defined by a tuple </a:t>
                </a:r>
                <a:r>
                  <a:rPr lang="en-US" altLang="zh-CN" dirty="0">
                    <a:solidFill>
                      <a:srgbClr val="C00000"/>
                    </a:solidFill>
                  </a:rPr>
                  <a:t>(</a:t>
                </a:r>
                <a:r>
                  <a:rPr lang="en-US" altLang="zh-CN" i="1" dirty="0">
                    <a:solidFill>
                      <a:srgbClr val="C00000"/>
                    </a:solidFill>
                  </a:rPr>
                  <a:t>S,A, T, R</a:t>
                </a:r>
                <a:r>
                  <a:rPr lang="en-US" altLang="zh-CN" dirty="0">
                    <a:solidFill>
                      <a:srgbClr val="C00000"/>
                    </a:solidFill>
                  </a:rPr>
                  <a:t>):</a:t>
                </a:r>
              </a:p>
              <a:p>
                <a:r>
                  <a:rPr lang="en-US" altLang="zh-CN" i="1" dirty="0">
                    <a:solidFill>
                      <a:srgbClr val="C00000"/>
                    </a:solidFill>
                  </a:rPr>
                  <a:t>S</a:t>
                </a:r>
                <a:r>
                  <a:rPr lang="en-US" altLang="zh-CN" dirty="0">
                    <a:solidFill>
                      <a:srgbClr val="C00000"/>
                    </a:solidFill>
                  </a:rPr>
                  <a:t>: </a:t>
                </a:r>
                <a:r>
                  <a:rPr lang="en-US" altLang="zh-CN" dirty="0"/>
                  <a:t>a set of states </a:t>
                </a:r>
              </a:p>
              <a:p>
                <a:r>
                  <a:rPr lang="en-US" altLang="zh-CN" i="1" dirty="0">
                    <a:solidFill>
                      <a:srgbClr val="C00000"/>
                    </a:solidFill>
                  </a:rPr>
                  <a:t>A</a:t>
                </a:r>
                <a:r>
                  <a:rPr lang="en-US" altLang="zh-CN" dirty="0">
                    <a:solidFill>
                      <a:srgbClr val="C00000"/>
                    </a:solidFill>
                  </a:rPr>
                  <a:t>: </a:t>
                </a:r>
                <a:r>
                  <a:rPr lang="en-US" altLang="zh-CN" dirty="0"/>
                  <a:t>a set of actions</a:t>
                </a:r>
              </a:p>
              <a:p>
                <a:r>
                  <a:rPr lang="en-US" altLang="zh-CN" i="1" dirty="0">
                    <a:solidFill>
                      <a:srgbClr val="C00000"/>
                    </a:solidFill>
                  </a:rPr>
                  <a:t>T</a:t>
                </a:r>
                <a:r>
                  <a:rPr lang="en-US" altLang="zh-CN" dirty="0">
                    <a:solidFill>
                      <a:srgbClr val="C00000"/>
                    </a:solidFill>
                  </a:rPr>
                  <a:t>: </a:t>
                </a:r>
                <a:r>
                  <a:rPr lang="en-US" altLang="zh-CN" dirty="0"/>
                  <a:t>a transition function, </a:t>
                </a:r>
              </a:p>
              <a:p>
                <a:pPr lvl="1"/>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 </m:t>
                    </m:r>
                  </m:oMath>
                </a14:m>
                <a:r>
                  <a:rPr lang="en-US" altLang="zh-CN" dirty="0"/>
                  <a:t>where s </a:t>
                </a:r>
                <a:r>
                  <a:rPr lang="en-US" altLang="zh-CN" dirty="0">
                    <a:sym typeface="Symbol" panose="05050102010706020507" pitchFamily="18" charset="2"/>
                  </a:rPr>
                  <a:t></a:t>
                </a:r>
                <a:r>
                  <a:rPr lang="en-US" altLang="zh-CN" dirty="0"/>
                  <a:t> S, a </a:t>
                </a:r>
                <a:r>
                  <a:rPr lang="en-US" altLang="zh-CN" dirty="0">
                    <a:sym typeface="Symbol" panose="05050102010706020507" pitchFamily="18" charset="2"/>
                  </a:rPr>
                  <a:t> </a:t>
                </a:r>
                <a:r>
                  <a:rPr lang="en-US" altLang="zh-CN" dirty="0"/>
                  <a:t>A, s’</a:t>
                </a:r>
                <a:r>
                  <a:rPr lang="en-US" altLang="zh-CN" dirty="0">
                    <a:sym typeface="Symbol" panose="05050102010706020507" pitchFamily="18" charset="2"/>
                  </a:rPr>
                  <a:t> </a:t>
                </a:r>
                <a:r>
                  <a:rPr lang="en-US" altLang="zh-CN" dirty="0"/>
                  <a:t> S, sometimes denoted as </a:t>
                </a:r>
                <a14:m>
                  <m:oMath xmlns:m="http://schemas.openxmlformats.org/officeDocument/2006/math">
                    <m:r>
                      <a:rPr lang="en-US" altLang="zh-CN" i="1" smtClean="0">
                        <a:solidFill>
                          <a:srgbClr val="FF0000"/>
                        </a:solidFill>
                        <a:latin typeface="Cambria Math" panose="02040503050406030204" pitchFamily="18" charset="0"/>
                      </a:rPr>
                      <m:t>𝑃</m:t>
                    </m:r>
                    <m:r>
                      <a:rPr lang="en-US" altLang="zh-CN" i="1" smtClean="0">
                        <a:solidFill>
                          <a:srgbClr val="FF0000"/>
                        </a:solidFill>
                        <a:latin typeface="Cambria Math" panose="02040503050406030204" pitchFamily="18" charset="0"/>
                      </a:rPr>
                      <m:t>(</m:t>
                    </m:r>
                    <m:sSup>
                      <m:sSupPr>
                        <m:ctrlPr>
                          <a:rPr lang="en-US"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𝑠</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𝑠</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𝑎</m:t>
                    </m:r>
                    <m:r>
                      <a:rPr lang="en-US" altLang="zh-CN" i="1">
                        <a:solidFill>
                          <a:srgbClr val="FF0000"/>
                        </a:solidFill>
                        <a:latin typeface="Cambria Math" panose="02040503050406030204" pitchFamily="18" charset="0"/>
                      </a:rPr>
                      <m:t>)</m:t>
                    </m:r>
                  </m:oMath>
                </a14:m>
                <a:r>
                  <a:rPr lang="en-US" altLang="zh-CN" dirty="0">
                    <a:solidFill>
                      <a:srgbClr val="FF0000"/>
                    </a:solidFill>
                  </a:rPr>
                  <a:t> </a:t>
                </a:r>
                <a:endParaRPr lang="en-US" altLang="zh-CN" dirty="0"/>
              </a:p>
              <a:p>
                <a:pPr marL="128270" lvl="1" indent="0">
                  <a:buNone/>
                </a:pPr>
                <a:r>
                  <a:rPr lang="en-US" altLang="zh-CN" i="1" dirty="0">
                    <a:solidFill>
                      <a:srgbClr val="C00000"/>
                    </a:solidFill>
                  </a:rPr>
                  <a:t>R</a:t>
                </a:r>
                <a:r>
                  <a:rPr lang="en-US" altLang="zh-CN" dirty="0">
                    <a:solidFill>
                      <a:srgbClr val="C00000"/>
                    </a:solidFill>
                  </a:rPr>
                  <a:t>: </a:t>
                </a:r>
                <a:r>
                  <a:rPr lang="en-US" altLang="zh-CN" dirty="0"/>
                  <a:t>a reward function, </a:t>
                </a:r>
              </a:p>
              <a:p>
                <a:pPr lvl="1"/>
                <a14:m>
                  <m:oMath xmlns:m="http://schemas.openxmlformats.org/officeDocument/2006/math">
                    <m:r>
                      <a:rPr lang="en-US" altLang="zh-CN" i="1" smtClean="0">
                        <a:latin typeface="Cambria Math" panose="02040503050406030204" pitchFamily="18" charset="0"/>
                      </a:rPr>
                      <m:t>𝑅</m:t>
                    </m:r>
                    <m:r>
                      <a:rPr lang="en-US" altLang="zh-CN" i="1" smtClean="0">
                        <a:latin typeface="Cambria Math" panose="02040503050406030204" pitchFamily="18" charset="0"/>
                      </a:rPr>
                      <m:t>(</m:t>
                    </m:r>
                    <m:r>
                      <a:rPr lang="en-US" altLang="zh-CN" i="1" smtClean="0">
                        <a:latin typeface="Cambria Math" panose="02040503050406030204" pitchFamily="18" charset="0"/>
                      </a:rPr>
                      <m:t>𝑠</m:t>
                    </m:r>
                    <m:r>
                      <a:rPr lang="en-US" altLang="zh-CN" i="1" smtClean="0">
                        <a:latin typeface="Cambria Math" panose="02040503050406030204" pitchFamily="18" charset="0"/>
                      </a:rPr>
                      <m:t>,</m:t>
                    </m:r>
                    <m:r>
                      <a:rPr lang="en-US" altLang="zh-CN" i="1" smtClean="0">
                        <a:latin typeface="Cambria Math" panose="02040503050406030204" pitchFamily="18" charset="0"/>
                      </a:rPr>
                      <m:t>𝑎</m:t>
                    </m:r>
                    <m:r>
                      <a:rPr lang="en-US" altLang="zh-CN" i="1" smtClean="0">
                        <a:latin typeface="Cambria Math" panose="02040503050406030204" pitchFamily="18" charset="0"/>
                      </a:rPr>
                      <m:t>) </m:t>
                    </m:r>
                  </m:oMath>
                </a14:m>
                <a:r>
                  <a:rPr lang="en-US" altLang="zh-CN" dirty="0"/>
                  <a:t>is reward for the state s and action a, </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 </m:t>
                    </m:r>
                  </m:oMath>
                </a14:m>
                <a:endParaRPr lang="en-US" altLang="zh-CN" dirty="0"/>
              </a:p>
              <a:p>
                <a:pPr lvl="1"/>
                <a14:m>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r>
                      <a:rPr lang="en-US" altLang="zh-CN" i="1">
                        <a:latin typeface="Cambria Math" panose="02040503050406030204" pitchFamily="18" charset="0"/>
                      </a:rPr>
                      <m:t>𝑠</m:t>
                    </m:r>
                  </m:oMath>
                </a14:m>
                <a:r>
                  <a:rPr lang="en-US" altLang="zh-CN" dirty="0"/>
                  <a:t>) is the reward for the state s</a:t>
                </a:r>
              </a:p>
              <a:p>
                <a:pPr lvl="1"/>
                <a:endParaRPr lang="en-US" altLang="zh-CN" dirty="0"/>
              </a:p>
              <a:p>
                <a:endParaRPr kumimoji="1"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261" t="-2208"/>
                </a:stretch>
              </a:blipFill>
            </p:spPr>
            <p:txBody>
              <a:bodyPr/>
              <a:lstStyle/>
              <a:p>
                <a:r>
                  <a:rPr lang="en-CN">
                    <a:noFill/>
                  </a:rPr>
                  <a:t> </a:t>
                </a:r>
              </a:p>
            </p:txBody>
          </p:sp>
        </mc:Fallback>
      </mc:AlternateContent>
      <p:sp>
        <p:nvSpPr>
          <p:cNvPr id="4" name="灯片编号占位符 3"/>
          <p:cNvSpPr>
            <a:spLocks noGrp="1"/>
          </p:cNvSpPr>
          <p:nvPr>
            <p:ph type="sldNum" sz="quarter" idx="12"/>
          </p:nvPr>
        </p:nvSpPr>
        <p:spPr/>
        <p:txBody>
          <a:bodyPr/>
          <a:lstStyle/>
          <a:p>
            <a:fld id="{73ED9E58-58CD-4509-AA36-E19A52A37BA5}"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Q-Learning</a:t>
            </a:r>
            <a:endParaRPr kumimoji="1" lang="zh-CN" altLang="en-US" dirty="0"/>
          </a:p>
        </p:txBody>
      </p:sp>
      <p:sp>
        <p:nvSpPr>
          <p:cNvPr id="3" name="内容占位符 2"/>
          <p:cNvSpPr>
            <a:spLocks noGrp="1"/>
          </p:cNvSpPr>
          <p:nvPr>
            <p:ph idx="1"/>
          </p:nvPr>
        </p:nvSpPr>
        <p:spPr>
          <a:xfrm>
            <a:off x="1024128" y="1820599"/>
            <a:ext cx="9720071" cy="4023360"/>
          </a:xfrm>
        </p:spPr>
        <p:txBody>
          <a:bodyPr/>
          <a:lstStyle/>
          <a:p>
            <a:pPr>
              <a:buFont typeface="Wingdings" panose="05000000000000000000" pitchFamily="2" charset="2"/>
              <a:buChar char="l"/>
            </a:pPr>
            <a:r>
              <a:rPr kumimoji="1" lang="en-US" altLang="zh-CN" dirty="0"/>
              <a:t>Policy</a:t>
            </a:r>
          </a:p>
          <a:p>
            <a:pPr>
              <a:buFont typeface="Wingdings" panose="05000000000000000000" pitchFamily="2" charset="2"/>
              <a:buChar char="l"/>
            </a:pPr>
            <a:r>
              <a:rPr kumimoji="1" lang="en-US" altLang="zh-CN" dirty="0"/>
              <a:t>Q-table</a:t>
            </a:r>
          </a:p>
          <a:p>
            <a:pPr>
              <a:buFont typeface="Wingdings" panose="05000000000000000000" pitchFamily="2" charset="2"/>
              <a:buChar char="l"/>
            </a:pPr>
            <a:r>
              <a:rPr kumimoji="1" lang="en-US" altLang="zh-CN" dirty="0"/>
              <a:t>Q-value</a:t>
            </a:r>
          </a:p>
          <a:p>
            <a:pPr>
              <a:buFont typeface="Wingdings" panose="05000000000000000000" pitchFamily="2" charset="2"/>
              <a:buChar char="l"/>
            </a:pPr>
            <a:r>
              <a:rPr kumimoji="1" lang="en-US" altLang="zh-CN" dirty="0"/>
              <a:t>How to choose action</a:t>
            </a:r>
          </a:p>
          <a:p>
            <a:pPr>
              <a:buFont typeface="Wingdings" panose="05000000000000000000" pitchFamily="2" charset="2"/>
              <a:buChar char="l"/>
            </a:pPr>
            <a:r>
              <a:rPr kumimoji="1" lang="en-US" altLang="zh-CN" dirty="0"/>
              <a:t>Concept of Deep Q-learning</a:t>
            </a:r>
            <a:endParaRPr kumimoji="1" lang="zh-CN" altLang="en-US" dirty="0"/>
          </a:p>
        </p:txBody>
      </p:sp>
      <p:sp>
        <p:nvSpPr>
          <p:cNvPr id="4" name="灯片编号占位符 3"/>
          <p:cNvSpPr>
            <a:spLocks noGrp="1"/>
          </p:cNvSpPr>
          <p:nvPr>
            <p:ph type="sldNum" sz="quarter" idx="12"/>
          </p:nvPr>
        </p:nvSpPr>
        <p:spPr/>
        <p:txBody>
          <a:bodyPr/>
          <a:lstStyle/>
          <a:p>
            <a:fld id="{73ED9E58-58CD-4509-AA36-E19A52A37BA5}"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Markov Decision Process (MDP)</a:t>
            </a:r>
            <a:endParaRPr kumimoji="1" lang="zh-CN" altLang="en-US" dirty="0"/>
          </a:p>
        </p:txBody>
      </p:sp>
      <p:sp>
        <p:nvSpPr>
          <p:cNvPr id="4" name="灯片编号占位符 3"/>
          <p:cNvSpPr>
            <a:spLocks noGrp="1"/>
          </p:cNvSpPr>
          <p:nvPr>
            <p:ph type="sldNum" sz="quarter" idx="12"/>
          </p:nvPr>
        </p:nvSpPr>
        <p:spPr/>
        <p:txBody>
          <a:bodyPr/>
          <a:lstStyle/>
          <a:p>
            <a:fld id="{73ED9E58-58CD-4509-AA36-E19A52A37BA5}" type="slidenum">
              <a:rPr lang="en-US" smtClean="0"/>
              <a:t>19</a:t>
            </a:fld>
            <a:endParaRPr lang="en-US"/>
          </a:p>
        </p:txBody>
      </p:sp>
      <mc:AlternateContent xmlns:mc="http://schemas.openxmlformats.org/markup-compatibility/2006" xmlns:a14="http://schemas.microsoft.com/office/drawing/2010/main">
        <mc:Choice Requires="a14">
          <p:sp>
            <p:nvSpPr>
              <p:cNvPr id="6" name="TextBox 5"/>
              <p:cNvSpPr txBox="1"/>
              <p:nvPr/>
            </p:nvSpPr>
            <p:spPr>
              <a:xfrm>
                <a:off x="1121079" y="2181941"/>
                <a:ext cx="8637518" cy="3958199"/>
              </a:xfrm>
              <a:prstGeom prst="rect">
                <a:avLst/>
              </a:prstGeom>
              <a:noFill/>
            </p:spPr>
            <p:txBody>
              <a:bodyPr wrap="square">
                <a:spAutoFit/>
              </a:bodyPr>
              <a:lstStyle/>
              <a:p>
                <a:pPr marL="355600" marR="5080" indent="-342900">
                  <a:spcBef>
                    <a:spcPts val="940"/>
                  </a:spcBef>
                  <a:buFont typeface="Arial" panose="020B0604020202090204" pitchFamily="34" charset="0"/>
                  <a:buChar char="•"/>
                </a:pPr>
                <a:r>
                  <a:rPr lang="en-US" sz="1800" spc="-5" dirty="0">
                    <a:latin typeface="Verdana" panose="020B0804030504040204" pitchFamily="34" charset="0"/>
                    <a:ea typeface="Verdana" panose="020B0804030504040204" pitchFamily="34" charset="0"/>
                    <a:cs typeface="Verdana" panose="020B0804030504040204" pitchFamily="34" charset="0"/>
                  </a:rPr>
                  <a:t>Deterministic situation: </a:t>
                </a:r>
              </a:p>
              <a:p>
                <a:pPr marL="12700" marR="5080">
                  <a:lnSpc>
                    <a:spcPct val="102000"/>
                  </a:lnSpc>
                  <a:spcBef>
                    <a:spcPts val="25"/>
                  </a:spcBef>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𝑄</m:t>
                      </m:r>
                      <m:d>
                        <m:dPr>
                          <m:ctrlPr>
                            <a:rPr lang="ar-AE" sz="1800" b="0" i="1" smtClean="0">
                              <a:latin typeface="Cambria Math" panose="02040503050406030204" pitchFamily="18" charset="0"/>
                            </a:rPr>
                          </m:ctrlPr>
                        </m:dPr>
                        <m:e>
                          <m:r>
                            <a:rPr lang="ar-AE" sz="1800" b="0" i="1" smtClean="0">
                              <a:latin typeface="Cambria Math" panose="02040503050406030204" pitchFamily="18" charset="0"/>
                            </a:rPr>
                            <m:t>𝑠</m:t>
                          </m:r>
                          <m:r>
                            <a:rPr lang="ar-AE" sz="1800" b="0" i="1" smtClean="0">
                              <a:latin typeface="Cambria Math" panose="02040503050406030204" pitchFamily="18" charset="0"/>
                            </a:rPr>
                            <m:t>,</m:t>
                          </m:r>
                          <m:r>
                            <a:rPr lang="ar-AE" sz="1800" b="0" i="1" smtClean="0">
                              <a:latin typeface="Cambria Math" panose="02040503050406030204" pitchFamily="18" charset="0"/>
                            </a:rPr>
                            <m:t>𝑎</m:t>
                          </m:r>
                        </m:e>
                      </m:d>
                      <m:r>
                        <a:rPr lang="ar-AE" sz="1800" b="0" i="1" smtClean="0">
                          <a:latin typeface="Cambria Math" panose="02040503050406030204" pitchFamily="18" charset="0"/>
                        </a:rPr>
                        <m:t>=</m:t>
                      </m:r>
                      <m:r>
                        <a:rPr lang="ar-AE" sz="1800" b="0" i="1" smtClean="0">
                          <a:solidFill>
                            <a:schemeClr val="tx1"/>
                          </a:solidFill>
                          <a:latin typeface="Cambria Math" panose="02040503050406030204" pitchFamily="18" charset="0"/>
                        </a:rPr>
                        <m:t>𝑅</m:t>
                      </m:r>
                      <m:d>
                        <m:dPr>
                          <m:ctrlPr>
                            <a:rPr lang="ar-AE" sz="1800" b="0" i="1" smtClean="0">
                              <a:solidFill>
                                <a:schemeClr val="tx1"/>
                              </a:solidFill>
                              <a:latin typeface="Cambria Math" panose="02040503050406030204" pitchFamily="18" charset="0"/>
                            </a:rPr>
                          </m:ctrlPr>
                        </m:dPr>
                        <m:e>
                          <m:r>
                            <a:rPr lang="ar-AE"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𝑎</m:t>
                          </m:r>
                        </m:e>
                      </m:d>
                      <m:r>
                        <a:rPr lang="ar-AE" sz="1800" b="0" i="1" smtClean="0">
                          <a:latin typeface="Cambria Math" panose="02040503050406030204" pitchFamily="18" charset="0"/>
                        </a:rPr>
                        <m:t>+</m:t>
                      </m:r>
                      <m:r>
                        <a:rPr lang="ar-AE" sz="1800" b="0" i="1" smtClean="0">
                          <a:solidFill>
                            <a:srgbClr val="FF0000"/>
                          </a:solidFill>
                          <a:latin typeface="Cambria Math" panose="02040503050406030204" pitchFamily="18" charset="0"/>
                          <a:ea typeface="Cambria Math" panose="02040503050406030204" pitchFamily="18" charset="0"/>
                        </a:rPr>
                        <m:t>𝛾</m:t>
                      </m:r>
                      <m:func>
                        <m:funcPr>
                          <m:ctrlPr>
                            <a:rPr lang="ar-AE" sz="1800" b="0" i="1" smtClean="0">
                              <a:solidFill>
                                <a:srgbClr val="FF0000"/>
                              </a:solidFill>
                              <a:latin typeface="Cambria Math" panose="02040503050406030204" pitchFamily="18" charset="0"/>
                              <a:ea typeface="Cambria Math" panose="02040503050406030204" pitchFamily="18" charset="0"/>
                            </a:rPr>
                          </m:ctrlPr>
                        </m:funcPr>
                        <m:fName>
                          <m:limLow>
                            <m:limLowPr>
                              <m:ctrlPr>
                                <a:rPr lang="ar-AE" sz="1800" b="0" i="1" smtClean="0">
                                  <a:solidFill>
                                    <a:srgbClr val="FF0000"/>
                                  </a:solidFill>
                                  <a:latin typeface="Cambria Math" panose="02040503050406030204" pitchFamily="18" charset="0"/>
                                  <a:ea typeface="Cambria Math" panose="02040503050406030204" pitchFamily="18" charset="0"/>
                                </a:rPr>
                              </m:ctrlPr>
                            </m:limLowPr>
                            <m:e>
                              <m:r>
                                <m:rPr>
                                  <m:sty m:val="p"/>
                                </m:rPr>
                                <a:rPr lang="en-US" sz="1800" b="0" i="0" smtClean="0">
                                  <a:solidFill>
                                    <a:srgbClr val="FF0000"/>
                                  </a:solidFill>
                                  <a:latin typeface="Cambria Math" panose="02040503050406030204" pitchFamily="18" charset="0"/>
                                  <a:ea typeface="Cambria Math" panose="02040503050406030204" pitchFamily="18" charset="0"/>
                                </a:rPr>
                                <m:t>max</m:t>
                              </m:r>
                            </m:e>
                            <m:lim>
                              <m:r>
                                <a:rPr lang="ar-AE" sz="1800" b="0" i="1" smtClean="0">
                                  <a:solidFill>
                                    <a:srgbClr val="FF0000"/>
                                  </a:solidFill>
                                  <a:latin typeface="Cambria Math" panose="02040503050406030204" pitchFamily="18" charset="0"/>
                                  <a:ea typeface="Cambria Math" panose="02040503050406030204" pitchFamily="18" charset="0"/>
                                </a:rPr>
                                <m:t>𝑎</m:t>
                              </m:r>
                              <m:r>
                                <a:rPr lang="ar-AE" sz="1800" b="0" i="1" smtClean="0">
                                  <a:solidFill>
                                    <a:srgbClr val="FF0000"/>
                                  </a:solidFill>
                                  <a:latin typeface="Cambria Math" panose="02040503050406030204" pitchFamily="18" charset="0"/>
                                  <a:ea typeface="Cambria Math" panose="02040503050406030204" pitchFamily="18" charset="0"/>
                                </a:rPr>
                                <m:t>′</m:t>
                              </m:r>
                            </m:lim>
                          </m:limLow>
                        </m:fName>
                        <m:e>
                          <m:r>
                            <a:rPr lang="ar-AE" sz="1800" b="0" i="1" smtClean="0">
                              <a:solidFill>
                                <a:srgbClr val="FF0000"/>
                              </a:solidFill>
                              <a:latin typeface="Cambria Math" panose="02040503050406030204" pitchFamily="18" charset="0"/>
                              <a:ea typeface="Cambria Math" panose="02040503050406030204" pitchFamily="18" charset="0"/>
                            </a:rPr>
                            <m:t>𝑄</m:t>
                          </m:r>
                          <m:r>
                            <a:rPr lang="ar-AE" sz="1800" b="0" i="1" smtClean="0">
                              <a:solidFill>
                                <a:srgbClr val="FF0000"/>
                              </a:solidFill>
                              <a:latin typeface="Cambria Math" panose="02040503050406030204" pitchFamily="18" charset="0"/>
                              <a:ea typeface="Cambria Math" panose="02040503050406030204" pitchFamily="18" charset="0"/>
                            </a:rPr>
                            <m:t>(</m:t>
                          </m:r>
                          <m:sSup>
                            <m:sSupPr>
                              <m:ctrlPr>
                                <a:rPr lang="ar-AE" sz="1800" b="0" i="1" smtClean="0">
                                  <a:solidFill>
                                    <a:srgbClr val="FF0000"/>
                                  </a:solidFill>
                                  <a:latin typeface="Cambria Math" panose="02040503050406030204" pitchFamily="18" charset="0"/>
                                  <a:ea typeface="Cambria Math" panose="02040503050406030204" pitchFamily="18" charset="0"/>
                                </a:rPr>
                              </m:ctrlPr>
                            </m:sSupPr>
                            <m:e>
                              <m:r>
                                <a:rPr lang="ar-AE" sz="1800" b="0" i="1" smtClean="0">
                                  <a:solidFill>
                                    <a:srgbClr val="FF0000"/>
                                  </a:solidFill>
                                  <a:latin typeface="Cambria Math" panose="02040503050406030204" pitchFamily="18" charset="0"/>
                                  <a:ea typeface="Cambria Math" panose="02040503050406030204" pitchFamily="18" charset="0"/>
                                </a:rPr>
                                <m:t>𝑠</m:t>
                              </m:r>
                            </m:e>
                            <m:sup>
                              <m:r>
                                <a:rPr lang="ar-AE" sz="1800" b="0" i="1" smtClean="0">
                                  <a:solidFill>
                                    <a:srgbClr val="FF0000"/>
                                  </a:solidFill>
                                  <a:latin typeface="Cambria Math" panose="02040503050406030204" pitchFamily="18" charset="0"/>
                                  <a:ea typeface="Cambria Math" panose="02040503050406030204" pitchFamily="18" charset="0"/>
                                </a:rPr>
                                <m:t>′</m:t>
                              </m:r>
                            </m:sup>
                          </m:sSup>
                          <m:r>
                            <a:rPr lang="ar-AE" sz="1800" b="0" i="1" smtClean="0">
                              <a:solidFill>
                                <a:srgbClr val="FF0000"/>
                              </a:solidFill>
                              <a:latin typeface="Cambria Math" panose="02040503050406030204" pitchFamily="18" charset="0"/>
                              <a:ea typeface="Cambria Math" panose="02040503050406030204" pitchFamily="18" charset="0"/>
                            </a:rPr>
                            <m:t>,</m:t>
                          </m:r>
                          <m:r>
                            <a:rPr lang="ar-AE" sz="1800" b="0" i="1" smtClean="0">
                              <a:solidFill>
                                <a:srgbClr val="FF0000"/>
                              </a:solidFill>
                              <a:latin typeface="Cambria Math" panose="02040503050406030204" pitchFamily="18" charset="0"/>
                              <a:ea typeface="Cambria Math" panose="02040503050406030204" pitchFamily="18" charset="0"/>
                            </a:rPr>
                            <m:t>𝑎</m:t>
                          </m:r>
                          <m:r>
                            <a:rPr lang="ar-AE" sz="1800" b="0" i="1" smtClean="0">
                              <a:solidFill>
                                <a:srgbClr val="FF0000"/>
                              </a:solidFill>
                              <a:latin typeface="Cambria Math" panose="02040503050406030204" pitchFamily="18" charset="0"/>
                              <a:ea typeface="Cambria Math" panose="02040503050406030204" pitchFamily="18" charset="0"/>
                            </a:rPr>
                            <m:t>′</m:t>
                          </m:r>
                          <m:r>
                            <a:rPr lang="ar-AE" sz="1800" b="0" i="1" smtClean="0">
                              <a:solidFill>
                                <a:srgbClr val="FF0000"/>
                              </a:solidFill>
                              <a:latin typeface="Cambria Math" panose="02040503050406030204" pitchFamily="18" charset="0"/>
                              <a:ea typeface="Cambria Math" panose="02040503050406030204" pitchFamily="18" charset="0"/>
                            </a:rPr>
                            <m:t>)</m:t>
                          </m:r>
                        </m:e>
                      </m:func>
                    </m:oMath>
                  </m:oMathPara>
                </a14:m>
                <a:endParaRPr lang="en-US" sz="1800" dirty="0">
                  <a:latin typeface="Verdana" panose="020B0804030504040204" pitchFamily="34" charset="0"/>
                  <a:ea typeface="Verdana" panose="020B0804030504040204" pitchFamily="34" charset="0"/>
                  <a:cs typeface="Verdana" panose="020B0804030504040204" pitchFamily="34" charset="0"/>
                </a:endParaRPr>
              </a:p>
              <a:p>
                <a:pPr marL="12700" marR="5080">
                  <a:lnSpc>
                    <a:spcPct val="102000"/>
                  </a:lnSpc>
                  <a:spcBef>
                    <a:spcPts val="25"/>
                  </a:spcBef>
                </a:pPr>
                <a:r>
                  <a:rPr lang="en-US" b="1" dirty="0"/>
                  <a:t>The Concept:</a:t>
                </a:r>
                <a:r>
                  <a:rPr lang="en-US" dirty="0"/>
                  <a:t> I know exactly what will happen next. </a:t>
                </a:r>
              </a:p>
              <a:p>
                <a:pPr marL="12700" marR="5080">
                  <a:lnSpc>
                    <a:spcPct val="102000"/>
                  </a:lnSpc>
                  <a:spcBef>
                    <a:spcPts val="25"/>
                  </a:spcBef>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oMath>
                  </m:oMathPara>
                </a14:m>
                <a:endParaRPr lang="ar-AE" sz="1800" dirty="0">
                  <a:latin typeface="Verdana" panose="020B0804030504040204" pitchFamily="34" charset="0"/>
                  <a:ea typeface="Verdana" panose="020B0804030504040204" pitchFamily="34" charset="0"/>
                  <a:cs typeface="Verdana" panose="020B0804030504040204" pitchFamily="34" charset="0"/>
                </a:endParaRPr>
              </a:p>
              <a:p>
                <a:pPr marL="355600" marR="5080" indent="-342900">
                  <a:lnSpc>
                    <a:spcPct val="102000"/>
                  </a:lnSpc>
                  <a:spcBef>
                    <a:spcPts val="25"/>
                  </a:spcBef>
                  <a:buFont typeface="Arial" panose="020B0604020202090204" pitchFamily="34" charset="0"/>
                  <a:buChar char="•"/>
                </a:pPr>
                <a:endParaRPr lang="en-US" sz="1800" dirty="0">
                  <a:latin typeface="Verdana" panose="020B0804030504040204" pitchFamily="34" charset="0"/>
                  <a:ea typeface="Verdana" panose="020B0804030504040204" pitchFamily="34" charset="0"/>
                  <a:cs typeface="Verdana" panose="020B0804030504040204" pitchFamily="34" charset="0"/>
                </a:endParaRPr>
              </a:p>
              <a:p>
                <a:pPr marL="355600" marR="5080" indent="-342900">
                  <a:lnSpc>
                    <a:spcPct val="102000"/>
                  </a:lnSpc>
                  <a:spcBef>
                    <a:spcPts val="25"/>
                  </a:spcBef>
                  <a:buFont typeface="Arial" panose="020B0604020202090204" pitchFamily="34" charset="0"/>
                  <a:buChar char="•"/>
                </a:pPr>
                <a:r>
                  <a:rPr lang="en-US" sz="1800" dirty="0">
                    <a:latin typeface="Verdana" panose="020B0804030504040204" pitchFamily="34" charset="0"/>
                    <a:ea typeface="Verdana" panose="020B0804030504040204" pitchFamily="34" charset="0"/>
                    <a:cs typeface="Verdana" panose="020B0804030504040204" pitchFamily="34" charset="0"/>
                  </a:rPr>
                  <a:t>Stochastic situation:</a:t>
                </a:r>
                <a:r>
                  <a:rPr lang="en-US" sz="1800" b="0" dirty="0">
                    <a:latin typeface="Verdana" panose="020B0804030504040204" pitchFamily="34" charset="0"/>
                    <a:ea typeface="Verdana" panose="020B0804030504040204" pitchFamily="34" charset="0"/>
                    <a:cs typeface="Verdana" panose="020B0804030504040204" pitchFamily="34" charset="0"/>
                  </a:rPr>
                  <a:t> </a:t>
                </a:r>
              </a:p>
              <a:p>
                <a:pPr marL="12700" marR="5080">
                  <a:lnSpc>
                    <a:spcPct val="102000"/>
                  </a:lnSpc>
                  <a:spcBef>
                    <a:spcPts val="25"/>
                  </a:spcBef>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𝑄</m:t>
                      </m:r>
                      <m:d>
                        <m:dPr>
                          <m:ctrlPr>
                            <a:rPr lang="ar-AE" sz="1800" b="0" i="1" smtClean="0">
                              <a:latin typeface="Cambria Math" panose="02040503050406030204" pitchFamily="18" charset="0"/>
                            </a:rPr>
                          </m:ctrlPr>
                        </m:dPr>
                        <m:e>
                          <m:r>
                            <a:rPr lang="ar-AE" sz="1800" b="0" i="1" smtClean="0">
                              <a:latin typeface="Cambria Math" panose="02040503050406030204" pitchFamily="18" charset="0"/>
                            </a:rPr>
                            <m:t>𝑠</m:t>
                          </m:r>
                          <m:r>
                            <a:rPr lang="ar-AE" sz="1800" b="0" i="1" smtClean="0">
                              <a:latin typeface="Cambria Math" panose="02040503050406030204" pitchFamily="18" charset="0"/>
                            </a:rPr>
                            <m:t>,</m:t>
                          </m:r>
                          <m:r>
                            <a:rPr lang="ar-AE" sz="1800" b="0" i="1" smtClean="0">
                              <a:latin typeface="Cambria Math" panose="02040503050406030204" pitchFamily="18" charset="0"/>
                            </a:rPr>
                            <m:t>𝑎</m:t>
                          </m:r>
                        </m:e>
                      </m:d>
                      <m:r>
                        <a:rPr lang="en-US" altLang="zh-CN" sz="1800" b="0" i="0" smtClean="0">
                          <a:latin typeface="Cambria Math" panose="02040503050406030204" pitchFamily="18" charset="0"/>
                        </a:rPr>
                        <m:t>=</m:t>
                      </m:r>
                      <m:r>
                        <a:rPr lang="ar-AE" i="1" smtClean="0">
                          <a:solidFill>
                            <a:schemeClr val="tx1"/>
                          </a:solidFill>
                          <a:latin typeface="Cambria Math" panose="02040503050406030204" pitchFamily="18" charset="0"/>
                        </a:rPr>
                        <m:t>𝑅</m:t>
                      </m:r>
                      <m:d>
                        <m:dPr>
                          <m:ctrlPr>
                            <a:rPr lang="ar-AE" i="1" smtClean="0">
                              <a:solidFill>
                                <a:schemeClr val="tx1"/>
                              </a:solidFill>
                              <a:latin typeface="Cambria Math" panose="02040503050406030204" pitchFamily="18" charset="0"/>
                            </a:rPr>
                          </m:ctrlPr>
                        </m:dPr>
                        <m:e>
                          <m:r>
                            <a:rPr lang="ar-AE" i="1">
                              <a:solidFill>
                                <a:schemeClr val="tx1"/>
                              </a:solidFill>
                              <a:latin typeface="Cambria Math" panose="02040503050406030204" pitchFamily="18" charset="0"/>
                            </a:rPr>
                            <m:t>𝑠</m:t>
                          </m:r>
                          <m:r>
                            <a:rPr lang="ar-AE" i="1">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𝑎</m:t>
                          </m:r>
                        </m:e>
                      </m:d>
                      <m:r>
                        <a:rPr lang="en-US" b="0" i="1" smtClean="0">
                          <a:latin typeface="Cambria Math" panose="02040503050406030204" pitchFamily="18" charset="0"/>
                        </a:rPr>
                        <m:t>+</m:t>
                      </m:r>
                      <m:r>
                        <a:rPr lang="ar-AE" i="1" smtClean="0">
                          <a:solidFill>
                            <a:srgbClr val="FF0000"/>
                          </a:solidFill>
                          <a:latin typeface="Cambria Math" panose="02040503050406030204" pitchFamily="18" charset="0"/>
                          <a:ea typeface="Cambria Math" panose="02040503050406030204" pitchFamily="18" charset="0"/>
                        </a:rPr>
                        <m:t>𝛾</m:t>
                      </m:r>
                      <m:nary>
                        <m:naryPr>
                          <m:chr m:val="∑"/>
                          <m:supHide m:val="on"/>
                          <m:ctrlPr>
                            <a:rPr lang="ar-AE" sz="1800" i="1" smtClean="0">
                              <a:solidFill>
                                <a:srgbClr val="FF0000"/>
                              </a:solidFill>
                              <a:latin typeface="Cambria Math" panose="02040503050406030204" pitchFamily="18" charset="0"/>
                            </a:rPr>
                          </m:ctrlPr>
                        </m:naryPr>
                        <m:sub>
                          <m:r>
                            <m:rPr>
                              <m:brk m:alnAt="7"/>
                            </m:rPr>
                            <a:rPr lang="ar-AE" sz="1800" i="1">
                              <a:solidFill>
                                <a:srgbClr val="FF0000"/>
                              </a:solidFill>
                              <a:latin typeface="Cambria Math" panose="02040503050406030204" pitchFamily="18" charset="0"/>
                            </a:rPr>
                            <m:t>𝑠</m:t>
                          </m:r>
                          <m:r>
                            <a:rPr lang="ar-AE" sz="1800" i="1">
                              <a:solidFill>
                                <a:srgbClr val="FF0000"/>
                              </a:solidFill>
                              <a:latin typeface="Cambria Math" panose="02040503050406030204" pitchFamily="18" charset="0"/>
                            </a:rPr>
                            <m:t>′</m:t>
                          </m:r>
                        </m:sub>
                        <m:sup/>
                        <m:e>
                          <m:r>
                            <a:rPr lang="ar-AE" sz="1800" i="1" smtClean="0">
                              <a:solidFill>
                                <a:srgbClr val="FF0000"/>
                              </a:solidFill>
                              <a:latin typeface="Cambria Math" panose="02040503050406030204" pitchFamily="18" charset="0"/>
                            </a:rPr>
                            <m:t>𝑇</m:t>
                          </m:r>
                          <m:d>
                            <m:dPr>
                              <m:ctrlPr>
                                <a:rPr lang="ar-AE" sz="1800" i="1" smtClean="0">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𝑠</m:t>
                              </m:r>
                              <m:r>
                                <a:rPr lang="ar-AE" sz="1800" i="1">
                                  <a:solidFill>
                                    <a:srgbClr val="FF0000"/>
                                  </a:solidFill>
                                  <a:latin typeface="Cambria Math" panose="02040503050406030204" pitchFamily="18" charset="0"/>
                                </a:rPr>
                                <m:t>,</m:t>
                              </m:r>
                              <m:r>
                                <a:rPr lang="ar-AE" sz="1800" b="0" i="1" smtClean="0">
                                  <a:solidFill>
                                    <a:srgbClr val="FF0000"/>
                                  </a:solidFill>
                                  <a:latin typeface="Cambria Math" panose="02040503050406030204" pitchFamily="18" charset="0"/>
                                </a:rPr>
                                <m:t>𝑎</m:t>
                              </m:r>
                              <m:r>
                                <a:rPr lang="ar-AE" sz="1800" i="1">
                                  <a:solidFill>
                                    <a:srgbClr val="FF0000"/>
                                  </a:solidFill>
                                  <a:latin typeface="Cambria Math" panose="02040503050406030204" pitchFamily="18" charset="0"/>
                                </a:rPr>
                                <m:t>,</m:t>
                              </m:r>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a:rPr lang="ar-AE" sz="1800" i="1">
                                      <a:solidFill>
                                        <a:srgbClr val="FF0000"/>
                                      </a:solidFill>
                                      <a:latin typeface="Cambria Math" panose="02040503050406030204" pitchFamily="18" charset="0"/>
                                    </a:rPr>
                                    <m:t>′</m:t>
                                  </m:r>
                                </m:sup>
                              </m:sSup>
                            </m:e>
                          </m:d>
                          <m:func>
                            <m:funcPr>
                              <m:ctrlPr>
                                <a:rPr lang="ar-AE" sz="1800" i="1">
                                  <a:solidFill>
                                    <a:srgbClr val="FF0000"/>
                                  </a:solidFill>
                                  <a:latin typeface="Cambria Math" panose="02040503050406030204" pitchFamily="18" charset="0"/>
                                  <a:ea typeface="Cambria Math" panose="02040503050406030204" pitchFamily="18" charset="0"/>
                                </a:rPr>
                              </m:ctrlPr>
                            </m:funcPr>
                            <m:fName>
                              <m:limLow>
                                <m:limLowPr>
                                  <m:ctrlPr>
                                    <a:rPr lang="ar-AE" sz="1800" i="1">
                                      <a:solidFill>
                                        <a:srgbClr val="FF0000"/>
                                      </a:solidFill>
                                      <a:latin typeface="Cambria Math" panose="02040503050406030204" pitchFamily="18" charset="0"/>
                                      <a:ea typeface="Cambria Math" panose="02040503050406030204" pitchFamily="18" charset="0"/>
                                    </a:rPr>
                                  </m:ctrlPr>
                                </m:limLowPr>
                                <m:e>
                                  <m:r>
                                    <m:rPr>
                                      <m:sty m:val="p"/>
                                    </m:rPr>
                                    <a:rPr lang="en-US" sz="1800">
                                      <a:solidFill>
                                        <a:srgbClr val="FF0000"/>
                                      </a:solidFill>
                                      <a:latin typeface="Cambria Math" panose="02040503050406030204" pitchFamily="18" charset="0"/>
                                      <a:ea typeface="Cambria Math" panose="02040503050406030204" pitchFamily="18" charset="0"/>
                                    </a:rPr>
                                    <m:t>max</m:t>
                                  </m:r>
                                </m:e>
                                <m:lim>
                                  <m:r>
                                    <a:rPr lang="ar-AE" sz="1800" i="1">
                                      <a:solidFill>
                                        <a:srgbClr val="FF0000"/>
                                      </a:solidFill>
                                      <a:latin typeface="Cambria Math" panose="02040503050406030204" pitchFamily="18" charset="0"/>
                                      <a:ea typeface="Cambria Math" panose="02040503050406030204" pitchFamily="18" charset="0"/>
                                    </a:rPr>
                                    <m:t>     </m:t>
                                  </m:r>
                                  <m:r>
                                    <a:rPr lang="ar-AE" sz="1800" i="1">
                                      <a:solidFill>
                                        <a:srgbClr val="FF0000"/>
                                      </a:solidFill>
                                      <a:latin typeface="Cambria Math" panose="02040503050406030204" pitchFamily="18" charset="0"/>
                                      <a:ea typeface="Cambria Math" panose="02040503050406030204" pitchFamily="18" charset="0"/>
                                    </a:rPr>
                                    <m:t>𝑎</m:t>
                                  </m:r>
                                  <m:r>
                                    <a:rPr lang="ar-AE" sz="1800" i="1">
                                      <a:solidFill>
                                        <a:srgbClr val="FF0000"/>
                                      </a:solidFill>
                                      <a:latin typeface="Cambria Math" panose="02040503050406030204" pitchFamily="18" charset="0"/>
                                      <a:ea typeface="Cambria Math" panose="02040503050406030204" pitchFamily="18" charset="0"/>
                                    </a:rPr>
                                    <m:t>′</m:t>
                                  </m:r>
                                </m:lim>
                              </m:limLow>
                            </m:fName>
                            <m:e>
                              <m:r>
                                <a:rPr lang="ar-AE" sz="1800" i="1">
                                  <a:solidFill>
                                    <a:srgbClr val="FF0000"/>
                                  </a:solidFill>
                                  <a:latin typeface="Cambria Math" panose="02040503050406030204" pitchFamily="18" charset="0"/>
                                  <a:ea typeface="Cambria Math" panose="02040503050406030204" pitchFamily="18" charset="0"/>
                                </a:rPr>
                                <m:t>𝑄</m:t>
                              </m:r>
                              <m:r>
                                <a:rPr lang="ar-AE" sz="1800" i="1">
                                  <a:solidFill>
                                    <a:srgbClr val="FF0000"/>
                                  </a:solidFill>
                                  <a:latin typeface="Cambria Math" panose="02040503050406030204" pitchFamily="18" charset="0"/>
                                  <a:ea typeface="Cambria Math" panose="02040503050406030204" pitchFamily="18" charset="0"/>
                                </a:rPr>
                                <m:t>(</m:t>
                              </m:r>
                              <m:sSup>
                                <m:sSupPr>
                                  <m:ctrlPr>
                                    <a:rPr lang="ar-AE" sz="1800" i="1">
                                      <a:solidFill>
                                        <a:srgbClr val="FF0000"/>
                                      </a:solidFill>
                                      <a:latin typeface="Cambria Math" panose="02040503050406030204" pitchFamily="18" charset="0"/>
                                      <a:ea typeface="Cambria Math" panose="02040503050406030204" pitchFamily="18" charset="0"/>
                                    </a:rPr>
                                  </m:ctrlPr>
                                </m:sSupPr>
                                <m:e>
                                  <m:r>
                                    <a:rPr lang="ar-AE" sz="1800" i="1">
                                      <a:solidFill>
                                        <a:srgbClr val="FF0000"/>
                                      </a:solidFill>
                                      <a:latin typeface="Cambria Math" panose="02040503050406030204" pitchFamily="18" charset="0"/>
                                      <a:ea typeface="Cambria Math" panose="02040503050406030204" pitchFamily="18" charset="0"/>
                                    </a:rPr>
                                    <m:t>𝑠</m:t>
                                  </m:r>
                                </m:e>
                                <m:sup>
                                  <m:r>
                                    <a:rPr lang="ar-AE" sz="1800" i="1">
                                      <a:solidFill>
                                        <a:srgbClr val="FF0000"/>
                                      </a:solidFill>
                                      <a:latin typeface="Cambria Math" panose="02040503050406030204" pitchFamily="18" charset="0"/>
                                      <a:ea typeface="Cambria Math" panose="02040503050406030204" pitchFamily="18" charset="0"/>
                                    </a:rPr>
                                    <m:t>′</m:t>
                                  </m:r>
                                </m:sup>
                              </m:sSup>
                              <m:r>
                                <a:rPr lang="ar-AE" sz="1800" i="1">
                                  <a:solidFill>
                                    <a:srgbClr val="FF0000"/>
                                  </a:solidFill>
                                  <a:latin typeface="Cambria Math" panose="02040503050406030204" pitchFamily="18" charset="0"/>
                                  <a:ea typeface="Cambria Math" panose="02040503050406030204" pitchFamily="18" charset="0"/>
                                </a:rPr>
                                <m:t>,</m:t>
                              </m:r>
                              <m:r>
                                <a:rPr lang="ar-AE" sz="1800" i="1">
                                  <a:solidFill>
                                    <a:srgbClr val="FF0000"/>
                                  </a:solidFill>
                                  <a:latin typeface="Cambria Math" panose="02040503050406030204" pitchFamily="18" charset="0"/>
                                  <a:ea typeface="Cambria Math" panose="02040503050406030204" pitchFamily="18" charset="0"/>
                                </a:rPr>
                                <m:t>𝑎</m:t>
                              </m:r>
                              <m:r>
                                <a:rPr lang="ar-AE" sz="1800" i="1">
                                  <a:solidFill>
                                    <a:srgbClr val="FF0000"/>
                                  </a:solidFill>
                                  <a:latin typeface="Cambria Math" panose="02040503050406030204" pitchFamily="18" charset="0"/>
                                  <a:ea typeface="Cambria Math" panose="02040503050406030204" pitchFamily="18" charset="0"/>
                                </a:rPr>
                                <m:t>′</m:t>
                              </m:r>
                              <m:r>
                                <a:rPr lang="ar-AE" sz="1800" i="1">
                                  <a:solidFill>
                                    <a:srgbClr val="FF0000"/>
                                  </a:solidFill>
                                  <a:latin typeface="Cambria Math" panose="02040503050406030204" pitchFamily="18" charset="0"/>
                                  <a:ea typeface="Cambria Math" panose="02040503050406030204" pitchFamily="18" charset="0"/>
                                </a:rPr>
                                <m:t>)</m:t>
                              </m:r>
                            </m:e>
                          </m:func>
                        </m:e>
                      </m:nary>
                    </m:oMath>
                  </m:oMathPara>
                </a14:m>
                <a:endParaRPr lang="en-US" sz="1800" b="0" i="1" dirty="0">
                  <a:latin typeface="Cambria Math" panose="02040503050406030204" pitchFamily="18" charset="0"/>
                </a:endParaRPr>
              </a:p>
              <a:p>
                <a:pPr marL="12700" marR="5080">
                  <a:lnSpc>
                    <a:spcPct val="102000"/>
                  </a:lnSpc>
                  <a:spcBef>
                    <a:spcPts val="25"/>
                  </a:spcBef>
                </a:pPr>
                <a:r>
                  <a:rPr lang="en-US" b="1" dirty="0"/>
                  <a:t>The Concept:</a:t>
                </a:r>
                <a:r>
                  <a:rPr lang="en-US" dirty="0"/>
                  <a:t> I know what </a:t>
                </a:r>
                <a:r>
                  <a:rPr lang="en-US" i="1" dirty="0"/>
                  <a:t>might</a:t>
                </a:r>
                <a:r>
                  <a:rPr lang="en-US" dirty="0"/>
                  <a:t> happen next, and the odds of each outcome.</a:t>
                </a:r>
              </a:p>
              <a:p>
                <a:pPr marL="12700" marR="5080">
                  <a:lnSpc>
                    <a:spcPct val="102000"/>
                  </a:lnSpc>
                  <a:spcBef>
                    <a:spcPts val="25"/>
                  </a:spcBef>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𝑢𝑛𝑐𝑒𝑟𝑡𝑎𝑖𝑛𝑡𝑦</m:t>
                      </m:r>
                    </m:oMath>
                  </m:oMathPara>
                </a14:m>
                <a:endParaRPr lang="en-US" i="1" dirty="0">
                  <a:latin typeface="Cambria Math" panose="02040503050406030204" pitchFamily="18" charset="0"/>
                </a:endParaRPr>
              </a:p>
              <a:p>
                <a:pPr marL="12700" marR="5080">
                  <a:lnSpc>
                    <a:spcPct val="102000"/>
                  </a:lnSpc>
                  <a:spcBef>
                    <a:spcPts val="25"/>
                  </a:spcBef>
                </a:pPr>
                <a:endParaRPr lang="en-US" i="1" dirty="0">
                  <a:latin typeface="Cambria Math" panose="02040503050406030204" pitchFamily="18" charset="0"/>
                </a:endParaRPr>
              </a:p>
              <a:p>
                <a:pPr marL="12700" marR="5080">
                  <a:lnSpc>
                    <a:spcPct val="102000"/>
                  </a:lnSpc>
                  <a:spcBef>
                    <a:spcPts val="25"/>
                  </a:spcBef>
                </a:pPr>
                <a:endParaRPr lang="en-US" sz="1800" b="0" i="1" dirty="0">
                  <a:latin typeface="Cambria Math" panose="02040503050406030204" pitchFamily="18" charset="0"/>
                </a:endParaRPr>
              </a:p>
              <a:p>
                <a:pPr marL="12700" marR="5080">
                  <a:lnSpc>
                    <a:spcPct val="102000"/>
                  </a:lnSpc>
                  <a:spcBef>
                    <a:spcPts val="25"/>
                  </a:spcBef>
                </a:pPr>
                <a:endParaRPr lang="en-US" sz="1800" b="0" i="1" dirty="0">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121079" y="2181941"/>
                <a:ext cx="8637518" cy="3958199"/>
              </a:xfrm>
              <a:prstGeom prst="rect">
                <a:avLst/>
              </a:prstGeom>
              <a:blipFill>
                <a:blip r:embed="rId2"/>
                <a:stretch>
                  <a:fillRect l="-441" t="-639"/>
                </a:stretch>
              </a:blipFill>
            </p:spPr>
            <p:txBody>
              <a:bodyPr/>
              <a:lstStyle/>
              <a:p>
                <a:r>
                  <a:rPr lang="en-CN">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to AI Method</a:t>
            </a:r>
          </a:p>
        </p:txBody>
      </p:sp>
      <p:sp>
        <p:nvSpPr>
          <p:cNvPr id="3" name="Content Placeholder 2"/>
          <p:cNvSpPr>
            <a:spLocks noGrp="1"/>
          </p:cNvSpPr>
          <p:nvPr>
            <p:ph idx="1"/>
          </p:nvPr>
        </p:nvSpPr>
        <p:spPr>
          <a:xfrm>
            <a:off x="2292096" y="2286000"/>
            <a:ext cx="8090154" cy="4023360"/>
          </a:xfrm>
        </p:spPr>
        <p:txBody>
          <a:bodyPr/>
          <a:lstStyle/>
          <a:p>
            <a:r>
              <a:rPr lang="en-US" dirty="0"/>
              <a:t>Linear Programming, Integer Programming</a:t>
            </a:r>
          </a:p>
          <a:p>
            <a:r>
              <a:rPr lang="en-US" dirty="0"/>
              <a:t>Heuristic Algorithm</a:t>
            </a:r>
          </a:p>
          <a:p>
            <a:r>
              <a:rPr lang="en-GB" altLang="zh-CN" dirty="0">
                <a:ea typeface="SimSun" charset="-122"/>
              </a:rPr>
              <a:t>Metaheuristics(Genetic algorithm, Simulated annealing, </a:t>
            </a:r>
            <a:r>
              <a:rPr lang="en-GB" altLang="zh-CN" dirty="0" err="1">
                <a:ea typeface="SimSun" charset="-122"/>
              </a:rPr>
              <a:t>Tabu</a:t>
            </a:r>
            <a:r>
              <a:rPr lang="en-GB" altLang="zh-CN" dirty="0">
                <a:ea typeface="SimSun" charset="-122"/>
              </a:rPr>
              <a:t> search)</a:t>
            </a:r>
          </a:p>
          <a:p>
            <a:r>
              <a:rPr lang="en-GB" altLang="zh-CN" dirty="0">
                <a:ea typeface="SimSun" charset="-122"/>
              </a:rPr>
              <a:t>Population Based Metaheuristics </a:t>
            </a:r>
          </a:p>
          <a:p>
            <a:r>
              <a:rPr lang="en-GB" altLang="zh-CN" dirty="0">
                <a:ea typeface="SimSun" charset="-122"/>
              </a:rPr>
              <a:t>Hyper heuristic(</a:t>
            </a:r>
            <a:r>
              <a:rPr lang="en-GB" dirty="0"/>
              <a:t>Reinforcement learning</a:t>
            </a:r>
            <a:r>
              <a:rPr lang="en-GB" altLang="zh-CN" dirty="0">
                <a:ea typeface="SimSun" charset="-122"/>
              </a:rPr>
              <a:t>)</a:t>
            </a:r>
          </a:p>
          <a:p>
            <a:endParaRPr lang="en-US" dirty="0"/>
          </a:p>
        </p:txBody>
      </p:sp>
      <p:sp>
        <p:nvSpPr>
          <p:cNvPr id="4" name="Slide Number Placeholder 3"/>
          <p:cNvSpPr>
            <a:spLocks noGrp="1"/>
          </p:cNvSpPr>
          <p:nvPr>
            <p:ph type="sldNum" sz="quarter" idx="12"/>
          </p:nvPr>
        </p:nvSpPr>
        <p:spPr/>
        <p:txBody>
          <a:bodyPr/>
          <a:lstStyle/>
          <a:p>
            <a:fld id="{73ED9E58-58CD-4509-AA36-E19A52A37BA5}"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05973" y="748748"/>
            <a:ext cx="5288784" cy="923330"/>
          </a:xfrm>
          <a:prstGeom prst="rect">
            <a:avLst/>
          </a:prstGeom>
          <a:noFill/>
        </p:spPr>
        <p:txBody>
          <a:bodyPr wrap="square" lIns="91440" tIns="45720" rIns="91440" bIns="45720">
            <a:spAutoFit/>
          </a:bodyPr>
          <a:lstStyle/>
          <a:p>
            <a:pPr algn="ctr"/>
            <a:r>
              <a:rPr lang="en-US" altLang="zh-CN" sz="5400" b="1" cap="none" spc="0" dirty="0">
                <a:ln w="22225">
                  <a:solidFill>
                    <a:schemeClr val="accent2"/>
                  </a:solidFill>
                  <a:prstDash val="solid"/>
                </a:ln>
                <a:solidFill>
                  <a:schemeClr val="accent2">
                    <a:lumMod val="40000"/>
                    <a:lumOff val="60000"/>
                  </a:schemeClr>
                </a:solidFill>
                <a:effectLst/>
              </a:rPr>
              <a:t>GOOD LUCK !!!!!!</a:t>
            </a:r>
            <a:endParaRPr lang="en-US" sz="5400" b="1" cap="none" spc="0" dirty="0">
              <a:ln w="22225">
                <a:solidFill>
                  <a:schemeClr val="accent2"/>
                </a:solidFill>
                <a:prstDash val="solid"/>
              </a:ln>
              <a:solidFill>
                <a:schemeClr val="accent2">
                  <a:lumMod val="40000"/>
                  <a:lumOff val="60000"/>
                </a:schemeClr>
              </a:solidFill>
              <a:effectLst/>
            </a:endParaRPr>
          </a:p>
        </p:txBody>
      </p:sp>
      <p:pic>
        <p:nvPicPr>
          <p:cNvPr id="8" name="Picture 7" descr="A picture containing clipart&#10;&#10;Description automatically generated"/>
          <p:cNvPicPr>
            <a:picLocks noChangeAspect="1"/>
          </p:cNvPicPr>
          <p:nvPr/>
        </p:nvPicPr>
        <p:blipFill>
          <a:blip r:embed="rId2"/>
          <a:stretch>
            <a:fillRect/>
          </a:stretch>
        </p:blipFill>
        <p:spPr>
          <a:xfrm>
            <a:off x="3580848" y="2299252"/>
            <a:ext cx="4394200" cy="35052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72</TotalTime>
  <Words>938</Words>
  <Application>Microsoft Office PowerPoint</Application>
  <PresentationFormat>Widescreen</PresentationFormat>
  <Paragraphs>136</Paragraphs>
  <Slides>21</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21</vt:i4>
      </vt:variant>
    </vt:vector>
  </HeadingPairs>
  <TitlesOfParts>
    <vt:vector size="35" baseType="lpstr">
      <vt:lpstr>Microsoft Yahei UI</vt:lpstr>
      <vt:lpstr>DengXian</vt:lpstr>
      <vt:lpstr>华文仿宋</vt:lpstr>
      <vt:lpstr>SimSun</vt:lpstr>
      <vt:lpstr>Arial</vt:lpstr>
      <vt:lpstr>Calibri</vt:lpstr>
      <vt:lpstr>Cambria Math</vt:lpstr>
      <vt:lpstr>Symbol</vt:lpstr>
      <vt:lpstr>Tw Cen MT</vt:lpstr>
      <vt:lpstr>Tw Cen MT Condensed</vt:lpstr>
      <vt:lpstr>Verdana</vt:lpstr>
      <vt:lpstr>Wingdings</vt:lpstr>
      <vt:lpstr>Wingdings 3</vt:lpstr>
      <vt:lpstr>Integral</vt:lpstr>
      <vt:lpstr>Revision-first part fundamentals of AI(comp1037) </vt:lpstr>
      <vt:lpstr>SET / sem  </vt:lpstr>
      <vt:lpstr>Exam Paper Format</vt:lpstr>
      <vt:lpstr>Past paper</vt:lpstr>
      <vt:lpstr>PowerPoint Presentation</vt:lpstr>
      <vt:lpstr>The Core of FAI: Agents &amp; Environments</vt:lpstr>
      <vt:lpstr>Part I: Deterministic Environments</vt:lpstr>
      <vt:lpstr>AI Basics</vt:lpstr>
      <vt:lpstr>Example Questions</vt:lpstr>
      <vt:lpstr>problem FOMULATION &amp; search tree</vt:lpstr>
      <vt:lpstr>Example Questions</vt:lpstr>
      <vt:lpstr>Game play </vt:lpstr>
      <vt:lpstr>Example Questions</vt:lpstr>
      <vt:lpstr>Part II: Stochastic Environments</vt:lpstr>
      <vt:lpstr>Supervised learning</vt:lpstr>
      <vt:lpstr>UnSupervised learning</vt:lpstr>
      <vt:lpstr>Markov Decision Process (MDP)</vt:lpstr>
      <vt:lpstr>Q-Learning</vt:lpstr>
      <vt:lpstr>Markov Decision Process (MDP)</vt:lpstr>
      <vt:lpstr>Link to AI Method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Space and search tree fundamentals of AI(AE1FAI) </dc:title>
  <dc:creator>Microsoft Office User</dc:creator>
  <cp:lastModifiedBy>Xinan Chen</cp:lastModifiedBy>
  <cp:revision>174</cp:revision>
  <dcterms:created xsi:type="dcterms:W3CDTF">2026-05-04T11:03:57Z</dcterms:created>
  <dcterms:modified xsi:type="dcterms:W3CDTF">2026-05-05T01:25:30Z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752F9EE7A2FF61D81D7DF8693626122B_42</vt:lpwstr>
  </property>
  <property fmtid="{D5CDD505-2E9C-101B-9397-08002B2CF9AE}" pid="3" name="KSOProductBuildVer">
    <vt:lpwstr>1033-12.1.25869.25869</vt:lpwstr>
  </property>
</Properties>
</file>